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25822"/>
                </a:solidFill>
                <a:latin typeface="Malgun Gothic"/>
              </a:rPr>
              <a:t>flow web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UI 개선 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0E0E0"/>
                </a:solidFill>
                <a:latin typeface="Malgun Gothic"/>
              </a:rPr>
              <a:t>3D · 차트 · 업무 탭 디자인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5852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6C6C6"/>
                </a:solidFill>
                <a:latin typeface="Malgun Gothic"/>
              </a:rPr>
              <a:t>세 영역, 영역별 2~3안을 현재 화면과 비교해 제시합니다.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C6C6C6"/>
                </a:solidFill>
                <a:latin typeface="Malgun Gothic"/>
              </a:rPr>
              <a:t>선택해 주시면 해당 안으로 후속 구현을 진행합니다.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25822"/>
                </a:solidFill>
                <a:latin typeface="Malgun Gothic"/>
              </a:rPr>
              <a:t>01   </a:t>
            </a:r>
            <a:r>
              <a:rPr sz="1300" b="0">
                <a:solidFill>
                  <a:srgbClr val="E0E0E0"/>
                </a:solidFill>
                <a:latin typeface="Malgun Gothic"/>
              </a:rPr>
              <a:t>홈 아이콘 · 관리자 3D 구조 모델링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30368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25822"/>
                </a:solidFill>
                <a:latin typeface="Malgun Gothic"/>
              </a:rPr>
              <a:t>02   </a:t>
            </a:r>
            <a:r>
              <a:rPr sz="1300" b="0">
                <a:solidFill>
                  <a:srgbClr val="E0E0E0"/>
                </a:solidFill>
                <a:latin typeface="Malgun Gothic"/>
              </a:rPr>
              <a:t>차트 가독성 · 차트생성 신규 유형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14416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25822"/>
                </a:solidFill>
                <a:latin typeface="Malgun Gothic"/>
              </a:rPr>
              <a:t>03   </a:t>
            </a:r>
            <a:r>
              <a:rPr sz="1300" b="0">
                <a:solidFill>
                  <a:srgbClr val="E0E0E0"/>
                </a:solidFill>
                <a:latin typeface="Malgun Gothic"/>
              </a:rPr>
              <a:t>전체 업무 탭 디자인 통일</a:t>
            </a:r>
          </a:p>
        </p:txBody>
      </p:sp>
      <p:pic>
        <p:nvPicPr>
          <p:cNvPr id="9" name="Picture 8" descr="gaa_g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94435"/>
            <a:ext cx="5394960" cy="3371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0" y="59893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D8D8D"/>
                </a:solidFill>
                <a:latin typeface="Malgun Gothic"/>
              </a:rPr>
              <a:t>기준: flow 10.4.311 (origin/main) · 2026-09-26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5822"/>
                </a:solidFill>
                <a:latin typeface="Malgun Gothic"/>
              </a:rPr>
              <a:t>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1717"/>
                </a:solidFill>
                <a:latin typeface="Malgun Gothic"/>
              </a:rPr>
              <a:t>선택이 필요한 결정 4가지와 추천안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Malgun Gothic"/>
              </a:rPr>
              <a:t>각 안의 상세 비교는 뒤 슬라이드에 있습니다. 추천안은 flow의 현재 토큰(브랜드 오렌지 · 스틸 · 플랫)과의 연속성을 기준으로 골랐습니다.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3A3A3"/>
                </a:solidFill>
                <a:latin typeface="Malgun Gothic"/>
              </a:rPr>
              <a:t>flow UI 개선 시안 · 2026-09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3A3A3"/>
                </a:solidFill>
                <a:latin typeface="Malgun Gothic"/>
              </a:rPr>
              <a:t>2</a:t>
            </a:r>
          </a:p>
        </p:txBody>
      </p:sp>
      <p:pic>
        <p:nvPicPr>
          <p:cNvPr id="7" name="Picture 6" descr="filebrowser_i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1691640"/>
            <a:ext cx="1737360" cy="17373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3611880"/>
            <a:ext cx="260604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37373"/>
                </a:solidFill>
                <a:latin typeface="Malgun Gothic"/>
              </a:rPr>
              <a:t>01 · 홈 아이콘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4164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71717"/>
                </a:solidFill>
                <a:latin typeface="Malgun Gothic"/>
              </a:rPr>
              <a:t>B · 아이소메트릭 3D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98848"/>
            <a:ext cx="490118" cy="237744"/>
          </a:xfrm>
          <a:prstGeom prst="roundRect">
            <a:avLst>
              <a:gd name="adj" fmla="val 50000"/>
            </a:avLst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추천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64608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404040"/>
                </a:solidFill>
                <a:latin typeface="Malgun Gothic"/>
              </a:rPr>
              <a:t>현재 아이소 배치 유지 + 실제 3D 음영. PNG 사전 렌더로 런타임 부담 없음</a:t>
            </a:r>
          </a:p>
        </p:txBody>
      </p:sp>
      <p:pic>
        <p:nvPicPr>
          <p:cNvPr id="13" name="Picture 12" descr="gaa_clay_pro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4052" y="1691640"/>
            <a:ext cx="2316480" cy="17373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319272" y="3611880"/>
            <a:ext cx="260604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9272" y="3749039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37373"/>
                </a:solidFill>
                <a:latin typeface="Malgun Gothic"/>
              </a:rPr>
              <a:t>01 · 관리자 3D 구조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404164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71717"/>
                </a:solidFill>
                <a:latin typeface="Malgun Gothic"/>
              </a:rPr>
              <a:t>A · 스튜디오 클레이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19272" y="4498848"/>
            <a:ext cx="490118" cy="237744"/>
          </a:xfrm>
          <a:prstGeom prst="roundRect">
            <a:avLst>
              <a:gd name="adj" fmla="val 50000"/>
            </a:avLst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추천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9272" y="4864608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404040"/>
                </a:solidFill>
                <a:latin typeface="Malgun Gothic"/>
              </a:rPr>
              <a:t>부드러운 조명·AO·라운드. 제품별 inline 값으로 형상 생성, LLM으로 편집</a:t>
            </a:r>
          </a:p>
        </p:txBody>
      </p:sp>
      <p:pic>
        <p:nvPicPr>
          <p:cNvPr id="19" name="Picture 18" descr="trend_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1764030"/>
            <a:ext cx="2606040" cy="15925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181344" y="3611880"/>
            <a:ext cx="260604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1344" y="3749039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37373"/>
                </a:solidFill>
                <a:latin typeface="Malgun Gothic"/>
              </a:rPr>
              <a:t>02 · 차트 스타일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404164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71717"/>
                </a:solidFill>
                <a:latin typeface="Malgun Gothic"/>
              </a:rPr>
              <a:t>A · 클린 리포트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1344" y="4498848"/>
            <a:ext cx="490118" cy="237744"/>
          </a:xfrm>
          <a:prstGeom prst="roundRect">
            <a:avLst>
              <a:gd name="adj" fmla="val 50000"/>
            </a:avLst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추천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4864608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404040"/>
                </a:solidFill>
                <a:latin typeface="Malgun Gothic"/>
              </a:rPr>
              <a:t>단위 포함 축 이름, 결론형 제목, 6색 검증 팔레트, 출처·n 표기</a:t>
            </a:r>
          </a:p>
        </p:txBody>
      </p:sp>
      <p:pic>
        <p:nvPicPr>
          <p:cNvPr id="25" name="Picture 24" descr="ds_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3416" y="1953601"/>
            <a:ext cx="2606040" cy="1213437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9043416" y="3611880"/>
            <a:ext cx="260604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43416" y="3749039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37373"/>
                </a:solidFill>
                <a:latin typeface="Malgun Gothic"/>
              </a:rPr>
              <a:t>03 · 탭 디자인 시스템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43416" y="404164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71717"/>
                </a:solidFill>
                <a:latin typeface="Malgun Gothic"/>
              </a:rPr>
              <a:t>A · 플랫 구분선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43416" y="4498848"/>
            <a:ext cx="490118" cy="237744"/>
          </a:xfrm>
          <a:prstGeom prst="roundRect">
            <a:avLst>
              <a:gd name="adj" fmla="val 50000"/>
            </a:avLst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추천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43416" y="4864608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404040"/>
                </a:solidFill>
                <a:latin typeface="Malgun Gothic"/>
              </a:rPr>
              <a:t>카드 대신 구분선, 컨트롤 32px, 반경 4px, 4종 페이지 템플릿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5822"/>
                </a:solidFill>
                <a:latin typeface="Malgun Gothic"/>
              </a:rPr>
              <a:t>01 · 홈 아이콘 · 관리자 3D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1717"/>
                </a:solidFill>
                <a:latin typeface="Malgun Gothic"/>
              </a:rPr>
              <a:t>현재: 아이소 SVG 픽토그램과 기본 PBR 장면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Malgun Gothic"/>
              </a:rPr>
              <a:t>홈 아이콘은 three.js가 아니라 SVG 아이소메트릭 도형(HomeAppIcons.jsx)이고, 3D는 관리자 → 제품 구조(GaaScene.jsx)에서만 쓰입니다.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3A3A3"/>
                </a:solidFill>
                <a:latin typeface="Malgun Gothic"/>
              </a:rPr>
              <a:t>flow UI 개선 시안 · 2026-09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3A3A3"/>
                </a:solidFill>
                <a:latin typeface="Malgun Gothic"/>
              </a:rPr>
              <a:t>3</a:t>
            </a:r>
          </a:p>
        </p:txBody>
      </p:sp>
      <p:pic>
        <p:nvPicPr>
          <p:cNvPr id="7" name="Picture 6" descr="icons_cur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43" y="1600200"/>
            <a:ext cx="9641632" cy="1417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063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737373"/>
                </a:solidFill>
                <a:latin typeface="Malgun Gothic"/>
              </a:rPr>
              <a:t>현재 홈 아이콘 (실제 컴포넌트 렌더)</a:t>
            </a:r>
          </a:p>
        </p:txBody>
      </p:sp>
      <p:pic>
        <p:nvPicPr>
          <p:cNvPr id="9" name="Picture 8" descr="gaa_cur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429000"/>
            <a:ext cx="4608576" cy="2880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3520440"/>
            <a:ext cx="6126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71717"/>
                </a:solidFill>
                <a:latin typeface="Malgun Gothic"/>
              </a:rPr>
              <a:t>관리자 · GAA 구조 모델 (현재 방식 재현)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3931920"/>
            <a:ext cx="61264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150" b="1">
                <a:solidFill>
                  <a:srgbClr val="404040"/>
                </a:solidFill>
                <a:latin typeface="Malgun Gothic"/>
              </a:rPr>
              <a:t>재질: </a:t>
            </a:r>
            <a:r>
              <a:rPr sz="1150" b="0">
                <a:solidFill>
                  <a:srgbClr val="404040"/>
                </a:solidFill>
                <a:latin typeface="Malgun Gothic"/>
              </a:rPr>
              <a:t>MeshStandardMaterial + RoomEnvironment. 역할별 metalness/roughness만 다르고 모서리가 날카로운 기본 박스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150" b="1">
                <a:solidFill>
                  <a:srgbClr val="404040"/>
                </a:solidFill>
                <a:latin typeface="Malgun Gothic"/>
              </a:rPr>
              <a:t>조명: </a:t>
            </a:r>
            <a:r>
              <a:rPr sz="1150" b="0">
                <a:solidFill>
                  <a:srgbClr val="404040"/>
                </a:solidFill>
                <a:latin typeface="Malgun Gothic"/>
              </a:rPr>
              <a:t>Hemisphere + Directional 2개. 앰비언트 오클루전(AO)이 없어 부품 사이 접촉부가 평면적으로 보임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150" b="1">
                <a:solidFill>
                  <a:srgbClr val="404040"/>
                </a:solidFill>
                <a:latin typeface="Malgun Gothic"/>
              </a:rPr>
              <a:t>가독성: </a:t>
            </a:r>
            <a:r>
              <a:rPr sz="1150" b="0">
                <a:solidFill>
                  <a:srgbClr val="404040"/>
                </a:solidFill>
                <a:latin typeface="Malgun Gothic"/>
              </a:rPr>
              <a:t>게이트·스페이서가 반투명이라 나노시트가 겹쳐 보이고 경계선(Edges)이 도면처럼 딱딱함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150" b="1">
                <a:solidFill>
                  <a:srgbClr val="404040"/>
                </a:solidFill>
                <a:latin typeface="Malgun Gothic"/>
              </a:rPr>
              <a:t>아이콘: </a:t>
            </a:r>
            <a:r>
              <a:rPr sz="1150" b="0">
                <a:solidFill>
                  <a:srgbClr val="404040"/>
                </a:solidFill>
                <a:latin typeface="Malgun Gothic"/>
              </a:rPr>
              <a:t>3면 톤 SVG. 가볍고 일관되지만 입체감·재질감의 한계 → 3D 느낌을 원하면 사전 렌더 방식이 적합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5822"/>
                </a:solidFill>
                <a:latin typeface="Malgun Gothic"/>
              </a:rPr>
              <a:t>01 · 홈 아이콘 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1717"/>
                </a:solidFill>
                <a:latin typeface="Malgun Gothic"/>
              </a:rPr>
              <a:t>홈 아이콘 3안 — 발광 없이 flow 톤의 가벼운 3D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Malgun Gothic"/>
              </a:rPr>
              <a:t>data 탭 = 스틸 몸체 + 오렌지 포인트, work 탭 = 오렌지 몸체 + 스틸 포인트. 기존 타일 배경색·반경(16px)을 그대로 씁니다.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3A3A3"/>
                </a:solidFill>
                <a:latin typeface="Malgun Gothic"/>
              </a:rPr>
              <a:t>flow UI 개선 시안 · 2026-09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3A3A3"/>
                </a:solidFill>
                <a:latin typeface="Malgun Gothic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25822"/>
                </a:solidFill>
                <a:latin typeface="Malgun Gothic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10512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71717"/>
                </a:solidFill>
                <a:latin typeface="Malgun Gothic"/>
              </a:rPr>
              <a:t>소프트 클레이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Malgun Gothic"/>
              </a:rPr>
              <a:t>무광 파스텔, 둥근 모서리, 넓은 그림자. 가장 부드럽고 친근함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645920"/>
            <a:ext cx="1325880" cy="132588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lebrowser_c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9275" y="1698955"/>
            <a:ext cx="1219809" cy="121980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687568" y="1645920"/>
            <a:ext cx="1325880" cy="1325880"/>
          </a:xfrm>
          <a:prstGeom prst="roundRect">
            <a:avLst>
              <a:gd name="adj" fmla="val 20000"/>
            </a:avLst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ashboard_c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603" y="1698955"/>
            <a:ext cx="1219809" cy="1219809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168896" y="1645920"/>
            <a:ext cx="1325880" cy="132588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tmanage_c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1931" y="1698955"/>
            <a:ext cx="1219809" cy="121980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650224" y="1645920"/>
            <a:ext cx="1325880" cy="1325880"/>
          </a:xfrm>
          <a:prstGeom prst="roundRect">
            <a:avLst>
              <a:gd name="adj" fmla="val 20000"/>
            </a:avLst>
          </a:prstGeom>
          <a:solidFill>
            <a:srgbClr val="EFE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alve_cl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3259" y="1698955"/>
            <a:ext cx="1219809" cy="1219809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57200" y="3108960"/>
            <a:ext cx="1127455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3558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25822"/>
                </a:solidFill>
                <a:latin typeface="Malgun Gothic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38328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71717"/>
                </a:solidFill>
                <a:latin typeface="Malgun Gothic"/>
              </a:rPr>
              <a:t>아이소메트릭 3D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71215" y="3410712"/>
            <a:ext cx="490118" cy="237744"/>
          </a:xfrm>
          <a:prstGeom prst="roundRect">
            <a:avLst>
              <a:gd name="adj" fmla="val 50000"/>
            </a:avLst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추천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767328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Malgun Gothic"/>
              </a:rPr>
              <a:t>현재와 같은 등각 시점에 실제 3D 음영·광택. 기존 아이콘과 가장 자연스럽게 이어짐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3218688"/>
            <a:ext cx="1325880" cy="132588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ilebrowser_is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9275" y="3271723"/>
            <a:ext cx="1219809" cy="1219809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5687568" y="3218688"/>
            <a:ext cx="1325880" cy="1325880"/>
          </a:xfrm>
          <a:prstGeom prst="roundRect">
            <a:avLst>
              <a:gd name="adj" fmla="val 20000"/>
            </a:avLst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dashboard_is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0603" y="3271723"/>
            <a:ext cx="1219809" cy="1219809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7168896" y="3218688"/>
            <a:ext cx="1325880" cy="132588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lotmanage_is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1931" y="3271723"/>
            <a:ext cx="1219809" cy="1219809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8650224" y="3218688"/>
            <a:ext cx="1325880" cy="1325880"/>
          </a:xfrm>
          <a:prstGeom prst="roundRect">
            <a:avLst>
              <a:gd name="adj" fmla="val 20000"/>
            </a:avLst>
          </a:prstGeom>
          <a:solidFill>
            <a:srgbClr val="EFE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valve_is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03259" y="3271723"/>
            <a:ext cx="1219809" cy="1219809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457200" y="4681728"/>
            <a:ext cx="1127455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92861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25822"/>
                </a:solidFill>
                <a:latin typeface="Malgun Gothic"/>
              </a:rPr>
              <a:t>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956048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71717"/>
                </a:solidFill>
                <a:latin typeface="Malgun Gothic"/>
              </a:rPr>
              <a:t>셀 셰이딩 일러스트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340096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Malgun Gothic"/>
              </a:rPr>
              <a:t>3단 톤 + 외곽선. 그림 같은 인상, 작은 크기에서도 윤곽이 또렷함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0" y="4791456"/>
            <a:ext cx="1325880" cy="1325880"/>
          </a:xfrm>
          <a:prstGeom prst="roundRect">
            <a:avLst>
              <a:gd name="adj" fmla="val 2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filebrowser_tech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59275" y="4844491"/>
            <a:ext cx="1219809" cy="1219809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5687568" y="4791456"/>
            <a:ext cx="1325880" cy="1325880"/>
          </a:xfrm>
          <a:prstGeom prst="roundRect">
            <a:avLst>
              <a:gd name="adj" fmla="val 20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dashboard_tec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40603" y="4844491"/>
            <a:ext cx="1219809" cy="1219809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7168896" y="4791456"/>
            <a:ext cx="1325880" cy="1325880"/>
          </a:xfrm>
          <a:prstGeom prst="roundRect">
            <a:avLst>
              <a:gd name="adj" fmla="val 2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lotmanage_tech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21931" y="4844491"/>
            <a:ext cx="1219809" cy="1219809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8650224" y="4791456"/>
            <a:ext cx="1325880" cy="1325880"/>
          </a:xfrm>
          <a:prstGeom prst="roundRect">
            <a:avLst>
              <a:gd name="adj" fmla="val 20000"/>
            </a:avLst>
          </a:prstGeom>
          <a:solidFill>
            <a:srgbClr val="F1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valve_tech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03259" y="4844491"/>
            <a:ext cx="1219809" cy="121980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206240" y="6144768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737373"/>
                </a:solidFill>
                <a:latin typeface="Malgun Gothic"/>
              </a:rPr>
              <a:t>파일탐색기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87568" y="6144768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737373"/>
                </a:solidFill>
                <a:latin typeface="Malgun Gothic"/>
              </a:rPr>
              <a:t>대시보드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68896" y="6144768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737373"/>
                </a:solidFill>
                <a:latin typeface="Malgun Gothic"/>
              </a:rPr>
              <a:t>랏 관리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50224" y="6144768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737373"/>
                </a:solidFill>
                <a:latin typeface="Malgun Gothic"/>
              </a:rPr>
              <a:t>매칭알람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5822"/>
                </a:solidFill>
                <a:latin typeface="Malgun Gothic"/>
              </a:rPr>
              <a:t>01 · 관리자 3D 구조 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1717"/>
                </a:solidFill>
                <a:latin typeface="Malgun Gothic"/>
              </a:rPr>
              <a:t>GAA 구조 모델 3안 — 같은 형상, 다른 표현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Malgun Gothic"/>
              </a:rPr>
              <a:t>모두 three.js 실시간 렌더 결과(헤드리스 Chrome)이며 Blender 없이 웹에서 그대로 구현 가능한 품질입니다.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3A3A3"/>
                </a:solidFill>
                <a:latin typeface="Malgun Gothic"/>
              </a:rPr>
              <a:t>flow UI 개선 시안 · 2026-09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3A3A3"/>
                </a:solidFill>
                <a:latin typeface="Malgun Gothic"/>
              </a:rPr>
              <a:t>5</a:t>
            </a:r>
          </a:p>
        </p:txBody>
      </p:sp>
      <p:pic>
        <p:nvPicPr>
          <p:cNvPr id="7" name="Picture 6" descr="gaa_c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771"/>
            <a:ext cx="3611880" cy="22574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050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25822"/>
                </a:solidFill>
                <a:latin typeface="Malgun Gothic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4164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71717"/>
                </a:solidFill>
                <a:latin typeface="Malgun Gothic"/>
              </a:rPr>
              <a:t>스튜디오 클레이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4069080"/>
            <a:ext cx="490118" cy="237744"/>
          </a:xfrm>
          <a:prstGeom prst="roundRect">
            <a:avLst>
              <a:gd name="adj" fmla="val 50000"/>
            </a:avLst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추천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26280"/>
            <a:ext cx="36118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100" b="0">
                <a:solidFill>
                  <a:srgbClr val="404040"/>
                </a:solidFill>
                <a:latin typeface="Malgun Gothic"/>
              </a:rPr>
              <a:t>둥근 모서리(RoundedBox) + GTAO 앰비언트 오클루전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100" b="0">
                <a:solidFill>
                  <a:srgbClr val="404040"/>
                </a:solidFill>
                <a:latin typeface="Malgun Gothic"/>
              </a:rPr>
              <a:t>VSM 소프트 섀도, Neutral 톤매핑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100" b="0">
                <a:solidFill>
                  <a:srgbClr val="404040"/>
                </a:solidFill>
                <a:latin typeface="Malgun Gothic"/>
              </a:rPr>
              <a:t>게이트 앞쪽 절반을 잘라 시트 적층을 노출</a:t>
            </a:r>
          </a:p>
        </p:txBody>
      </p:sp>
      <p:pic>
        <p:nvPicPr>
          <p:cNvPr id="12" name="Picture 11" descr="gaa_g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1600771"/>
            <a:ext cx="3611880" cy="22574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79392" y="40050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25822"/>
                </a:solidFill>
                <a:latin typeface="Malgun Gothic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404164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71717"/>
                </a:solidFill>
                <a:latin typeface="Malgun Gothic"/>
              </a:rPr>
              <a:t>글래스 &amp; 메탈 PBR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392" y="4526280"/>
            <a:ext cx="36118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100" b="0">
                <a:solidFill>
                  <a:srgbClr val="404040"/>
                </a:solidFill>
                <a:latin typeface="Malgun Gothic"/>
              </a:rPr>
              <a:t>게이트·STI를 투과(transmission) 재질로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100" b="0">
                <a:solidFill>
                  <a:srgbClr val="404040"/>
                </a:solidFill>
                <a:latin typeface="Malgun Gothic"/>
              </a:rPr>
              <a:t>금속 이방성·클리어코트, 약한 블룸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100" b="0">
                <a:solidFill>
                  <a:srgbClr val="404040"/>
                </a:solidFill>
                <a:latin typeface="Malgun Gothic"/>
              </a:rPr>
              <a:t>발표·데모용. 렌더 비용이 가장 큼</a:t>
            </a:r>
          </a:p>
        </p:txBody>
      </p:sp>
      <p:pic>
        <p:nvPicPr>
          <p:cNvPr id="16" name="Picture 15" descr="gaa_t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3" y="1600771"/>
            <a:ext cx="3611880" cy="22574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01583" y="40050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25822"/>
                </a:solidFill>
                <a:latin typeface="Malgun Gothic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404164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71717"/>
                </a:solidFill>
                <a:latin typeface="Malgun Gothic"/>
              </a:rPr>
              <a:t>테크니컬 단면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1583" y="4526280"/>
            <a:ext cx="36118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100" b="0">
                <a:solidFill>
                  <a:srgbClr val="404040"/>
                </a:solidFill>
                <a:latin typeface="Malgun Gothic"/>
              </a:rPr>
              <a:t>z=0 단면 절개, 모든 부품 단면 노출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100" b="0">
                <a:solidFill>
                  <a:srgbClr val="404040"/>
                </a:solidFill>
                <a:latin typeface="Malgun Gothic"/>
              </a:rPr>
              <a:t>번호 콜아웃 + 검은 윤곽선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100" b="0">
                <a:solidFill>
                  <a:srgbClr val="404040"/>
                </a:solidFill>
                <a:latin typeface="Malgun Gothic"/>
              </a:rPr>
              <a:t>TEM 단면과 나란히 놓기 좋고 인쇄에 강함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5822"/>
                </a:solidFill>
                <a:latin typeface="Malgun Gothic"/>
              </a:rPr>
              <a:t>01 · 제품별 상세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1717"/>
                </a:solidFill>
                <a:latin typeface="Malgun Gothic"/>
              </a:rPr>
              <a:t>Inline item 값으로 제품마다 다른 형상을 그대로 그린다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Malgun Gothic"/>
              </a:rPr>
              <a:t>지금도 제품 profile에 role → (module, step_id, item_id) 앵커가 저장됩니다. 시안에서는 그 값이 높이·두께·개수·연결로 바로 반영되고, 근거 item이 형상 옆에 표시됩니다.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3A3A3"/>
                </a:solidFill>
                <a:latin typeface="Malgun Gothic"/>
              </a:rPr>
              <a:t>flow UI 개선 시안 · 2026-09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3A3A3"/>
                </a:solidFill>
                <a:latin typeface="Malgun Gothic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71717"/>
                </a:solidFill>
                <a:latin typeface="Malgun Gothic"/>
              </a:rPr>
              <a:t>P-1043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645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737373"/>
                </a:solidFill>
                <a:latin typeface="Malgun Gothic"/>
              </a:rPr>
              <a:t>inline 앵커 5/7 연결 · 수치는 시안용 예시</a:t>
            </a:r>
          </a:p>
        </p:txBody>
      </p:sp>
      <p:pic>
        <p:nvPicPr>
          <p:cNvPr id="9" name="Picture 8" descr="gaa_clay_pro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280" y="1920240"/>
            <a:ext cx="3352800" cy="2514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52628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737373"/>
                </a:solidFill>
                <a:latin typeface="Malgun Gothic"/>
              </a:rPr>
              <a:t>구조 파라미터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452628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737373"/>
                </a:solidFill>
                <a:latin typeface="Malgun Gothic"/>
              </a:rPr>
              <a:t>Inline item (item_desc)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452628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737373"/>
                </a:solidFill>
                <a:latin typeface="Malgun Gothic"/>
              </a:rPr>
              <a:t>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800600"/>
            <a:ext cx="539496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85546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71717"/>
                </a:solidFill>
                <a:latin typeface="Malgun Gothic"/>
              </a:rPr>
              <a:t>Nanosheet 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4855464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6390"/>
                </a:solidFill>
                <a:latin typeface="Malgun Gothic"/>
              </a:rPr>
              <a:t>NS_CNT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4855464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71717"/>
                </a:solidFill>
                <a:latin typeface="Malgun Gothic"/>
              </a:rPr>
              <a:t>3</a:t>
            </a:r>
            <a:r>
              <a:rPr sz="1050" b="1">
                <a:solidFill>
                  <a:srgbClr val="E25822"/>
                </a:solidFill>
                <a:latin typeface="Malgun Gothic"/>
              </a:rPr>
              <a:t> 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38928"/>
            <a:ext cx="539496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15721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71717"/>
                </a:solidFill>
                <a:latin typeface="Malgun Gothic"/>
              </a:rPr>
              <a:t>Sheet 두께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515721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6390"/>
                </a:solidFill>
                <a:latin typeface="Malgun Gothic"/>
              </a:rPr>
              <a:t>T_NS1 · NS1 THK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5157216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71717"/>
                </a:solidFill>
                <a:latin typeface="Malgun Gothic"/>
              </a:rPr>
              <a:t>5.6 nm</a:t>
            </a:r>
            <a:r>
              <a:rPr sz="1050" b="1">
                <a:solidFill>
                  <a:srgbClr val="E25822"/>
                </a:solidFill>
                <a:latin typeface="Malgun Gothic"/>
              </a:rPr>
              <a:t>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40680"/>
            <a:ext cx="539496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45896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71717"/>
                </a:solidFill>
                <a:latin typeface="Malgun Gothic"/>
              </a:rPr>
              <a:t>Sheet pitch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545896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6390"/>
                </a:solidFill>
                <a:latin typeface="Malgun Gothic"/>
              </a:rPr>
              <a:t>P_NS · NS PITCH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545896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71717"/>
                </a:solidFill>
                <a:latin typeface="Malgun Gothic"/>
              </a:rPr>
              <a:t>12.8 nm</a:t>
            </a:r>
            <a:r>
              <a:rPr sz="1050" b="1">
                <a:solidFill>
                  <a:srgbClr val="E25822"/>
                </a:solidFill>
                <a:latin typeface="Malgun Gothic"/>
              </a:rPr>
              <a:t> 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742432"/>
            <a:ext cx="539496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76072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71717"/>
                </a:solidFill>
                <a:latin typeface="Malgun Gothic"/>
              </a:rPr>
              <a:t>Epi 높이(시트 위)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57607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6390"/>
                </a:solidFill>
                <a:latin typeface="Malgun Gothic"/>
              </a:rPr>
              <a:t>EPI_HT · SD EPI 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576072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71717"/>
                </a:solidFill>
                <a:latin typeface="Malgun Gothic"/>
              </a:rPr>
              <a:t>7.6 nm</a:t>
            </a:r>
            <a:r>
              <a:rPr sz="1050" b="1">
                <a:solidFill>
                  <a:srgbClr val="E25822"/>
                </a:solidFill>
                <a:latin typeface="Malgun Gothic"/>
              </a:rPr>
              <a:t> 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044184"/>
            <a:ext cx="539496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06247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71717"/>
                </a:solidFill>
                <a:latin typeface="Malgun Gothic"/>
              </a:rPr>
              <a:t>Gate 높이(시트 위)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606247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6390"/>
                </a:solidFill>
                <a:latin typeface="Malgun Gothic"/>
              </a:rPr>
              <a:t>GH_MG · MG HEIGHT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606247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71717"/>
                </a:solidFill>
                <a:latin typeface="Malgun Gothic"/>
              </a:rPr>
              <a:t>16.4 nm</a:t>
            </a:r>
            <a:r>
              <a:rPr sz="1050" b="1">
                <a:solidFill>
                  <a:srgbClr val="E25822"/>
                </a:solidFill>
                <a:latin typeface="Malgun Gothic"/>
              </a:rPr>
              <a:t>  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345936"/>
            <a:ext cx="539496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16002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71717"/>
                </a:solidFill>
                <a:latin typeface="Malgun Gothic"/>
              </a:rPr>
              <a:t>P-3310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1645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737373"/>
                </a:solidFill>
                <a:latin typeface="Malgun Gothic"/>
              </a:rPr>
              <a:t>inline 앵커 5/7 연결 · 수치는 시안용 예시</a:t>
            </a:r>
          </a:p>
        </p:txBody>
      </p:sp>
      <p:pic>
        <p:nvPicPr>
          <p:cNvPr id="36" name="Picture 35" descr="gaa_clay_pro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1920240"/>
            <a:ext cx="3352800" cy="25146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217920" y="452628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737373"/>
                </a:solidFill>
                <a:latin typeface="Malgun Gothic"/>
              </a:rPr>
              <a:t>구조 파라미터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452628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737373"/>
                </a:solidFill>
                <a:latin typeface="Malgun Gothic"/>
              </a:rPr>
              <a:t>Inline item (item_desc)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1320" y="452628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737373"/>
                </a:solidFill>
                <a:latin typeface="Malgun Gothic"/>
              </a:rPr>
              <a:t>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4800600"/>
            <a:ext cx="539496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485546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71717"/>
                </a:solidFill>
                <a:latin typeface="Malgun Gothic"/>
              </a:rPr>
              <a:t>Nanosheet 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01000" y="4855464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6390"/>
                </a:solidFill>
                <a:latin typeface="Malgun Gothic"/>
              </a:rPr>
              <a:t>NS_CNT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61320" y="4855464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71717"/>
                </a:solidFill>
                <a:latin typeface="Malgun Gothic"/>
              </a:rPr>
              <a:t>4</a:t>
            </a:r>
            <a:r>
              <a:rPr sz="1050" b="1">
                <a:solidFill>
                  <a:srgbClr val="E25822"/>
                </a:solidFill>
                <a:latin typeface="Malgun Gothic"/>
              </a:rPr>
              <a:t>  ▲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5138928"/>
            <a:ext cx="539496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515721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71717"/>
                </a:solidFill>
                <a:latin typeface="Malgun Gothic"/>
              </a:rPr>
              <a:t>Sheet 두께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515721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6390"/>
                </a:solidFill>
                <a:latin typeface="Malgun Gothic"/>
              </a:rPr>
              <a:t>T_NS1 · NS1 THK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61320" y="5157216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71717"/>
                </a:solidFill>
                <a:latin typeface="Malgun Gothic"/>
              </a:rPr>
              <a:t>4.4 nm</a:t>
            </a:r>
            <a:r>
              <a:rPr sz="1050" b="1">
                <a:solidFill>
                  <a:srgbClr val="E25822"/>
                </a:solidFill>
                <a:latin typeface="Malgun Gothic"/>
              </a:rPr>
              <a:t>  ▼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5440680"/>
            <a:ext cx="539496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0" y="545896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71717"/>
                </a:solidFill>
                <a:latin typeface="Malgun Gothic"/>
              </a:rPr>
              <a:t>Sheet pitch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1000" y="545896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6390"/>
                </a:solidFill>
                <a:latin typeface="Malgun Gothic"/>
              </a:rPr>
              <a:t>P_NS · NS PITCH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545896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71717"/>
                </a:solidFill>
                <a:latin typeface="Malgun Gothic"/>
              </a:rPr>
              <a:t>10.8 nm</a:t>
            </a:r>
            <a:r>
              <a:rPr sz="1050" b="1">
                <a:solidFill>
                  <a:srgbClr val="E25822"/>
                </a:solidFill>
                <a:latin typeface="Malgun Gothic"/>
              </a:rPr>
              <a:t>  ▼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5742432"/>
            <a:ext cx="539496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17920" y="576072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71717"/>
                </a:solidFill>
                <a:latin typeface="Malgun Gothic"/>
              </a:rPr>
              <a:t>Epi 높이(시트 위)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01000" y="57607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6390"/>
                </a:solidFill>
                <a:latin typeface="Malgun Gothic"/>
              </a:rPr>
              <a:t>EPI_HT · SD EPI HT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61320" y="576072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71717"/>
                </a:solidFill>
                <a:latin typeface="Malgun Gothic"/>
              </a:rPr>
              <a:t>10.4 nm</a:t>
            </a:r>
            <a:r>
              <a:rPr sz="1050" b="1">
                <a:solidFill>
                  <a:srgbClr val="E25822"/>
                </a:solidFill>
                <a:latin typeface="Malgun Gothic"/>
              </a:rPr>
              <a:t>  ▲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6044184"/>
            <a:ext cx="539496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17920" y="606247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71717"/>
                </a:solidFill>
                <a:latin typeface="Malgun Gothic"/>
              </a:rPr>
              <a:t>Gate 높이(시트 위)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01000" y="606247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6390"/>
                </a:solidFill>
                <a:latin typeface="Malgun Gothic"/>
              </a:rPr>
              <a:t>GH_MG · MG HEIGHT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61320" y="606247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71717"/>
                </a:solidFill>
                <a:latin typeface="Malgun Gothic"/>
              </a:rPr>
              <a:t>20.0 nm</a:t>
            </a:r>
            <a:r>
              <a:rPr sz="1050" b="1">
                <a:solidFill>
                  <a:srgbClr val="E25822"/>
                </a:solidFill>
                <a:latin typeface="Malgun Gothic"/>
              </a:rPr>
              <a:t>  ▲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7920" y="6345936"/>
            <a:ext cx="539496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5822"/>
                </a:solidFill>
                <a:latin typeface="Malgun Gothic"/>
              </a:rPr>
              <a:t>01 · LLM 구조 편집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1717"/>
                </a:solidFill>
                <a:latin typeface="Malgun Gothic"/>
              </a:rPr>
              <a:t>사내 LLM으로 말하듯 고치고, 변경점을 3D로 확인 후 적용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Malgun Gothic"/>
              </a:rPr>
              <a:t>기존 /api/structure-model/suggest-edits · suggest-shape를 그대로 쓰고, 결과를 diff 표 + 3D 하이라이트로 보여주는 UX로 바꿉니다.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3A3A3"/>
                </a:solidFill>
                <a:latin typeface="Malgun Gothic"/>
              </a:rPr>
              <a:t>flow UI 개선 시안 · 2026-09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3A3A3"/>
                </a:solidFill>
                <a:latin typeface="Malgun Gothic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09928"/>
            <a:ext cx="420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71717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64592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71717"/>
                </a:solidFill>
                <a:latin typeface="Malgun Gothic"/>
              </a:rPr>
              <a:t>지시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93392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Malgun Gothic"/>
              </a:rPr>
              <a:t>“P-3310은 시트 4장, 두께는 T_NS1 값으로, Epi는 EPI_HT에 맞춰줘”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6148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825496"/>
            <a:ext cx="420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71717"/>
                </a:solidFill>
                <a:latin typeface="Malgun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76148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71717"/>
                </a:solidFill>
                <a:latin typeface="Malgun Gothic"/>
              </a:rPr>
              <a:t>컨텍스트 전달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10896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Malgun Gothic"/>
              </a:rPr>
              <a:t>현재 draft · 제품 profile · 연결된 inline item 값/설명을 함께 LLM에 전달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7705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41064"/>
            <a:ext cx="420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877056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71717"/>
                </a:solidFill>
                <a:latin typeface="Malgun Gothic"/>
              </a:rPr>
              <a:t>변경안 검토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224528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Malgun Gothic"/>
              </a:rPr>
              <a:t>파라미터 diff 표 + 변경 부품만 오렌지로 강조한 3D 미리보기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99262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056632"/>
            <a:ext cx="420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71717"/>
                </a:solidFill>
                <a:latin typeface="Malgun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992624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71717"/>
                </a:solidFill>
                <a:latin typeface="Malgun Gothic"/>
              </a:rPr>
              <a:t>적용 · 저장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340096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Malgun Gothic"/>
              </a:rPr>
              <a:t>승인 시 제품 profile에 저장, 이력(누가/언제/근거 item)을 남김</a:t>
            </a:r>
          </a:p>
        </p:txBody>
      </p:sp>
      <p:pic>
        <p:nvPicPr>
          <p:cNvPr id="23" name="Picture 22" descr="gaa_clay_prodB_d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440" y="1554480"/>
            <a:ext cx="4267199" cy="3200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937760" y="480060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737373"/>
                </a:solidFill>
                <a:latin typeface="Malgun Gothic"/>
              </a:rPr>
              <a:t>변경안 미리보기 — 바뀌는 부품(시트·Epi)만 강조, 나머지는 회색 처리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513892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737373"/>
                </a:solidFill>
                <a:latin typeface="Malgun Gothic"/>
              </a:rPr>
              <a:t>파라미터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513892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737373"/>
                </a:solidFill>
                <a:latin typeface="Malgun Gothic"/>
              </a:rPr>
              <a:t>현재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13892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737373"/>
                </a:solidFill>
                <a:latin typeface="Malgun Gothic"/>
              </a:rPr>
              <a:t>제안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513892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737373"/>
                </a:solidFill>
                <a:latin typeface="Malgun Gothic"/>
              </a:rPr>
              <a:t>근거 item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7760" y="5394960"/>
            <a:ext cx="676656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545896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71717"/>
                </a:solidFill>
                <a:latin typeface="Malgun Gothic"/>
              </a:rPr>
              <a:t>sheet_count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545896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71717"/>
                </a:solidFill>
                <a:latin typeface="Malgun Gothic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545896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E25822"/>
                </a:solidFill>
                <a:latin typeface="Malgun Gothic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545896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F6390"/>
                </a:solidFill>
                <a:latin typeface="Malgun Gothic"/>
              </a:rPr>
              <a:t>NS_CNT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57607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71717"/>
                </a:solidFill>
                <a:latin typeface="Malgun Gothic"/>
              </a:rPr>
              <a:t>sheet_thickness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57607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71717"/>
                </a:solidFill>
                <a:latin typeface="Malgun Gothic"/>
              </a:rPr>
              <a:t>5.6 nm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57607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E25822"/>
                </a:solidFill>
                <a:latin typeface="Malgun Gothic"/>
              </a:rPr>
              <a:t>4.4 nm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57607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F6390"/>
                </a:solidFill>
                <a:latin typeface="Malgun Gothic"/>
              </a:rPr>
              <a:t>T_NS1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60624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71717"/>
                </a:solidFill>
                <a:latin typeface="Malgun Gothic"/>
              </a:rPr>
              <a:t>epi_height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60624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71717"/>
                </a:solidFill>
                <a:latin typeface="Malgun Gothic"/>
              </a:rPr>
              <a:t>7.6 nm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60624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E25822"/>
                </a:solidFill>
                <a:latin typeface="Malgun Gothic"/>
              </a:rPr>
              <a:t>10.4 nm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60624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F6390"/>
                </a:solidFill>
                <a:latin typeface="Malgun Gothic"/>
              </a:rPr>
              <a:t>EPI_HT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5822"/>
                </a:solidFill>
                <a:latin typeface="Malgun Gothic"/>
              </a:rPr>
              <a:t>01 · 구현 방식과 부담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1717"/>
                </a:solidFill>
                <a:latin typeface="Malgun Gothic"/>
              </a:rPr>
              <a:t>아이콘은 사전 렌더, 구조 모델은 실시간 — 둘 다 가볍게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Malgun Gothic"/>
              </a:rPr>
              <a:t>홈 화면에 WebGL을 추가하지 않습니다. 3D 비용은 관리자 구조 화면에서만 발생합니다.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3A3A3"/>
                </a:solidFill>
                <a:latin typeface="Malgun Gothic"/>
              </a:rPr>
              <a:t>flow UI 개선 시안 · 2026-09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3A3A3"/>
                </a:solidFill>
                <a:latin typeface="Malgun Gothic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37373"/>
                </a:solidFill>
                <a:latin typeface="Malgun Gothic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69164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25822"/>
                </a:solidFill>
                <a:latin typeface="Malgun Gothic"/>
              </a:rPr>
              <a:t>A 클레이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69164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25822"/>
                </a:solidFill>
                <a:latin typeface="Malgun Gothic"/>
              </a:rPr>
              <a:t>B 아이소 3D / 글래스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69164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25822"/>
                </a:solidFill>
                <a:latin typeface="Malgun Gothic"/>
              </a:rPr>
              <a:t>C 셀 셰이딩 / 단면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57400"/>
            <a:ext cx="11274552" cy="9525"/>
          </a:xfrm>
          <a:prstGeom prst="rect">
            <a:avLst/>
          </a:prstGeom>
          <a:solidFill>
            <a:srgbClr val="C6C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76272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71717"/>
                </a:solidFill>
                <a:latin typeface="Malgun Gothic"/>
              </a:rPr>
              <a:t>홈 아이콘 방식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176272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404040"/>
                </a:solidFill>
                <a:latin typeface="Malgun Gothic"/>
              </a:rPr>
              <a:t>PNG·WebP 사전 렌더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176272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404040"/>
                </a:solidFill>
                <a:latin typeface="Malgun Gothic"/>
              </a:rPr>
              <a:t>PNG·WebP 사전 렌더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176272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404040"/>
                </a:solidFill>
                <a:latin typeface="Malgun Gothic"/>
              </a:rPr>
              <a:t>PNG·WebP 사전 렌더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15184"/>
            <a:ext cx="1127455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688336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71717"/>
                </a:solidFill>
                <a:latin typeface="Malgun Gothic"/>
              </a:rPr>
              <a:t>아이콘 용량(144px 실측)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688336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404040"/>
                </a:solidFill>
                <a:latin typeface="Malgun Gothic"/>
              </a:rPr>
              <a:t>WebP 약 2 KB · PNG 11 KB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688336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404040"/>
                </a:solidFill>
                <a:latin typeface="Malgun Gothic"/>
              </a:rPr>
              <a:t>WebP 약 1 KB · PNG 7 KB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688336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404040"/>
                </a:solidFill>
                <a:latin typeface="Malgun Gothic"/>
              </a:rPr>
              <a:t>WebP 약 2 KB · PNG 11 KB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27248"/>
            <a:ext cx="1127455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2004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71717"/>
                </a:solidFill>
                <a:latin typeface="Malgun Gothic"/>
              </a:rPr>
              <a:t>구조 모델 추가 비용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20040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404040"/>
                </a:solidFill>
                <a:latin typeface="Malgun Gothic"/>
              </a:rPr>
              <a:t>GTAO + 소프트 섀도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20040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404040"/>
                </a:solidFill>
                <a:latin typeface="Malgun Gothic"/>
              </a:rPr>
              <a:t>투과 재질 + 블룸 (가장 무거움)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320040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404040"/>
                </a:solidFill>
                <a:latin typeface="Malgun Gothic"/>
              </a:rPr>
              <a:t>윤곽선만 (가장 가벼움)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639312"/>
            <a:ext cx="1127455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712464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71717"/>
                </a:solidFill>
                <a:latin typeface="Malgun Gothic"/>
              </a:rPr>
              <a:t>회전 중 성능 모드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3712464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404040"/>
                </a:solidFill>
                <a:latin typeface="Malgun Gothic"/>
              </a:rPr>
              <a:t>AO·섀도 끔 (현행 유지)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712464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404040"/>
                </a:solidFill>
                <a:latin typeface="Malgun Gothic"/>
              </a:rPr>
              <a:t>투과→불투명 전환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712464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404040"/>
                </a:solidFill>
                <a:latin typeface="Malgun Gothic"/>
              </a:rPr>
              <a:t>영향 거의 없음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151376"/>
            <a:ext cx="1127455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224528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71717"/>
                </a:solidFill>
                <a:latin typeface="Malgun Gothic"/>
              </a:rPr>
              <a:t>flow 톤 적합도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4224528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404040"/>
                </a:solidFill>
                <a:latin typeface="Malgun Gothic"/>
              </a:rPr>
              <a:t>높음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224528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404040"/>
                </a:solidFill>
                <a:latin typeface="Malgun Gothic"/>
              </a:rPr>
              <a:t>아이콘 높음 / 구조 중간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4224528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404040"/>
                </a:solidFill>
                <a:latin typeface="Malgun Gothic"/>
              </a:rPr>
              <a:t>중간 (보고서용 강점)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663440"/>
            <a:ext cx="1127455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736592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71717"/>
                </a:solidFill>
                <a:latin typeface="Malgun Gothic"/>
              </a:rPr>
              <a:t>구현 난이도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4736592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404040"/>
                </a:solidFill>
                <a:latin typeface="Malgun Gothic"/>
              </a:rPr>
              <a:t>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4736592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404040"/>
                </a:solidFill>
                <a:latin typeface="Malgun Gothic"/>
              </a:rPr>
              <a:t>아이콘 중 / 구조 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4736592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404040"/>
                </a:solidFill>
                <a:latin typeface="Malgun Gothic"/>
              </a:rPr>
              <a:t>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175504"/>
            <a:ext cx="1127455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44068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404040"/>
                </a:solidFill>
                <a:latin typeface="Malgun Gothic"/>
              </a:rPr>
              <a:t>파이프라인: </a:t>
            </a:r>
            <a:r>
              <a:rPr sz="1150" b="0">
                <a:solidFill>
                  <a:srgbClr val="404040"/>
                </a:solidFill>
                <a:latin typeface="Malgun Gothic"/>
              </a:rPr>
              <a:t>아이콘은 형상 정의(JS) → 헤드리스 렌더 → 이미지 에셋으로 빌드 시 생성. 형상 코드는 지금 HomeAppIcons.jsx처럼 코드로 남으므로 Blender 파일을 관리할 필요가 없습니다. (이 시안의 모든 3D 이미지가 이 방식으로 만들어졌습니다.)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5822"/>
                </a:solidFill>
                <a:latin typeface="Malgun Gothic"/>
              </a:rPr>
              <a:t>02 · 차트 가독성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1717"/>
                </a:solidFill>
                <a:latin typeface="Malgun Gothic"/>
              </a:rPr>
              <a:t>현재 차트: 데이터는 맞지만 보고서에 그대로 붙이기 어렵다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Malgun Gothic"/>
              </a:rPr>
              <a:t>PlotlyChart.jsx · chartTheme.js 기본값 기준. 축 이름은 x_label이 없으면 컬럼명(x_col, y_expr)으로 대체됩니다.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3A3A3"/>
                </a:solidFill>
                <a:latin typeface="Malgun Gothic"/>
              </a:rPr>
              <a:t>flow UI 개선 시안 · 2026-09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3A3A3"/>
                </a:solidFill>
                <a:latin typeface="Malgun Gothic"/>
              </a:rPr>
              <a:t>9</a:t>
            </a:r>
          </a:p>
        </p:txBody>
      </p:sp>
      <p:pic>
        <p:nvPicPr>
          <p:cNvPr id="7" name="Picture 6" descr="trend_cur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84959"/>
            <a:ext cx="6035040" cy="3688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0" y="164592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682496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62763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71717"/>
                </a:solidFill>
                <a:latin typeface="Malgun Gothic"/>
              </a:rPr>
              <a:t>축 이름 = 원본 컬럼명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938528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Malgun Gothic"/>
              </a:rPr>
              <a:t>VTH_N_LIN_avg, tkout_time — 물리량·단위가 없음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251460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551176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49631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71717"/>
                </a:solidFill>
                <a:latin typeface="Malgun Gothic"/>
              </a:rPr>
              <a:t>제목 = 축 나열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807208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Malgun Gothic"/>
              </a:rPr>
              <a:t>“A vs B”는 무엇을 봐야 하는지 말해주지 않음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338328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3419856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3649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71717"/>
                </a:solidFill>
                <a:latin typeface="Malgun Gothic"/>
              </a:rPr>
              <a:t>20색 순환 팔레트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675888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Malgun Gothic"/>
              </a:rPr>
              <a:t>10개 설비가 비슷한 색으로 섞이고, 앞 8색 중 3색은 배경 대비 3:1 미만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4251959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4288536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23367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71717"/>
                </a:solidFill>
                <a:latin typeface="Malgun Gothic"/>
              </a:rPr>
              <a:t>범례가 멀리 떨어짐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544568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Malgun Gothic"/>
              </a:rPr>
              <a:t>하단 범례 ↔ 점을 눈으로 왕복해야 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512064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5157216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510235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71717"/>
                </a:solidFill>
                <a:latin typeface="Malgun Gothic"/>
              </a:rPr>
              <a:t>맥락 없음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5413248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Malgun Gothic"/>
              </a:rPr>
              <a:t>n, 기간, 출처, 스펙 라벨이 없어 보고서에서 따로 설명 필요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5822"/>
                </a:solidFill>
                <a:latin typeface="Malgun Gothic"/>
              </a:rPr>
              <a:t>02 · 차트 가독성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1717"/>
                </a:solidFill>
                <a:latin typeface="Malgun Gothic"/>
              </a:rPr>
              <a:t>같은 데이터, 리포트형으로 — 현재 vs 개선안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Malgun Gothic"/>
              </a:rPr>
              <a:t>결론형 제목 · 단위 포함 축 이름 · 스펙 라벨 · 이벤트 주석 · 5+기타 팔레트 · n/기간/출처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3A3A3"/>
                </a:solidFill>
                <a:latin typeface="Malgun Gothic"/>
              </a:rPr>
              <a:t>flow UI 개선 시안 · 2026-09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3A3A3"/>
                </a:solidFill>
                <a:latin typeface="Malgun Gothic"/>
              </a:rPr>
              <a:t>10</a:t>
            </a:r>
          </a:p>
        </p:txBody>
      </p:sp>
      <p:pic>
        <p:nvPicPr>
          <p:cNvPr id="7" name="Picture 6" descr="trend_cur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5440"/>
            <a:ext cx="5486400" cy="3352800"/>
          </a:xfrm>
          <a:prstGeom prst="rect">
            <a:avLst/>
          </a:prstGeom>
        </p:spPr>
      </p:pic>
      <p:pic>
        <p:nvPicPr>
          <p:cNvPr id="8" name="Picture 7" descr="trend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15440"/>
            <a:ext cx="5486400" cy="3352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074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37373"/>
                </a:solidFill>
                <a:latin typeface="Malgun Gothic"/>
              </a:rPr>
              <a:t>현재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5074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25822"/>
                </a:solidFill>
                <a:latin typeface="Malgun Gothic"/>
              </a:rPr>
              <a:t>개선안 A · 클린 리포트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44068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050" b="0">
                <a:solidFill>
                  <a:srgbClr val="404040"/>
                </a:solidFill>
                <a:latin typeface="Malgun Gothic"/>
              </a:rPr>
              <a:t>축: “Track-out 일자”, “Vth,lin (V)” — 사전 정의된 항목 사전에서 이름·단위 자동 매핑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050" b="0">
                <a:solidFill>
                  <a:srgbClr val="404040"/>
                </a:solidFill>
                <a:latin typeface="Malgun Gothic"/>
              </a:rPr>
              <a:t>설비 10대 → 5색 + ‘기타’ 회색, 범례는 제목 아래 한 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4068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050" b="0">
                <a:solidFill>
                  <a:srgbClr val="404040"/>
                </a:solidFill>
                <a:latin typeface="Malgun Gothic"/>
              </a:rPr>
              <a:t>축 제목 13px · 눈금 11px · 여백 l64/b50 고정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050" b="0">
                <a:solidFill>
                  <a:srgbClr val="404040"/>
                </a:solidFill>
                <a:latin typeface="Malgun Gothic"/>
              </a:rPr>
              <a:t>제목과 축 제목이 같은 회색 계열, 위계가 약함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5822"/>
                </a:solidFill>
                <a:latin typeface="Malgun Gothic"/>
              </a:rPr>
              <a:t>02 · 차트 스타일 3안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1717"/>
                </a:solidFill>
                <a:latin typeface="Malgun Gothic"/>
              </a:rPr>
              <a:t>메시지 강조 방식에 따른 3가지 스타일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Malgun Gothic"/>
              </a:rPr>
              <a:t>세 안 모두 같은 타이포·축·간격 규칙을 쓰고, 색 운용만 다릅니다.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3A3A3"/>
                </a:solidFill>
                <a:latin typeface="Malgun Gothic"/>
              </a:rPr>
              <a:t>flow UI 개선 시안 · 2026-09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3A3A3"/>
                </a:solidFill>
                <a:latin typeface="Malgun Gothic"/>
              </a:rPr>
              <a:t>11</a:t>
            </a:r>
          </a:p>
        </p:txBody>
      </p:sp>
      <p:pic>
        <p:nvPicPr>
          <p:cNvPr id="7" name="Picture 6" descr="trend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6710"/>
            <a:ext cx="3611880" cy="22072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25822"/>
                </a:solidFill>
                <a:latin typeface="Malgun Gothic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5993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71717"/>
                </a:solidFill>
                <a:latin typeface="Malgun Gothic"/>
              </a:rPr>
              <a:t>클린 리포트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5960" y="4087368"/>
            <a:ext cx="950976" cy="237744"/>
          </a:xfrm>
          <a:prstGeom prst="roundRect">
            <a:avLst>
              <a:gd name="adj" fmla="val 50000"/>
            </a:avLst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기본 추천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26280"/>
            <a:ext cx="3611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404040"/>
                </a:solidFill>
                <a:latin typeface="Malgun Gothic"/>
              </a:rPr>
              <a:t>모든 계열을 검증된 6색으로 구분. 탐색·대시보드 기본값</a:t>
            </a:r>
          </a:p>
        </p:txBody>
      </p:sp>
      <p:pic>
        <p:nvPicPr>
          <p:cNvPr id="12" name="Picture 11" descr="trend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1616710"/>
            <a:ext cx="3611880" cy="22072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79392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25822"/>
                </a:solidFill>
                <a:latin typeface="Malgun Gothic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405993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71717"/>
                </a:solidFill>
                <a:latin typeface="Malgun Gothic"/>
              </a:rPr>
              <a:t>하이라이트 스토리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392" y="4526280"/>
            <a:ext cx="3611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404040"/>
                </a:solidFill>
                <a:latin typeface="Malgun Gothic"/>
              </a:rPr>
              <a:t>관심 계열 1개만 브랜드 오렌지, 나머지 회색. 보고서 결론 슬라이드용</a:t>
            </a:r>
          </a:p>
        </p:txBody>
      </p:sp>
      <p:pic>
        <p:nvPicPr>
          <p:cNvPr id="16" name="Picture 15" descr="trend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3" y="1616710"/>
            <a:ext cx="3611880" cy="22072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01583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25822"/>
                </a:solidFill>
                <a:latin typeface="Malgun Gothic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405993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71717"/>
                </a:solidFill>
                <a:latin typeface="Malgun Gothic"/>
              </a:rPr>
              <a:t>흑백 인쇄 대응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1583" y="4526280"/>
            <a:ext cx="3611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404040"/>
                </a:solidFill>
                <a:latin typeface="Malgun Gothic"/>
              </a:rPr>
              <a:t>마커 모양·명암만으로 구분. 흑백 출력·팩스·PDF 축소에 강함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04040"/>
                </a:solidFill>
                <a:latin typeface="Malgun Gothic"/>
              </a:rPr>
              <a:t>권장 조합: </a:t>
            </a:r>
            <a:r>
              <a:rPr sz="1200" b="0">
                <a:solidFill>
                  <a:srgbClr val="404040"/>
                </a:solidFill>
                <a:latin typeface="Malgun Gothic"/>
              </a:rPr>
              <a:t>차트생성·대시보드는 A를 기본값으로, Template/Auto report 내보내기 시 ‘하이라이트 계열’을 지정하면 B로 전환.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5822"/>
                </a:solidFill>
                <a:latin typeface="Malgun Gothic"/>
              </a:rPr>
              <a:t>02 · 현재 vs 개선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1717"/>
                </a:solidFill>
                <a:latin typeface="Malgun Gothic"/>
              </a:rPr>
              <a:t>분포 비교와 순위 비교에도 같은 규칙 적용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Malgun Gothic"/>
              </a:rPr>
              <a:t>상자그림: Ref 기준선 + 중앙값·Δ 직접 표기 / 막대: 0 기준 축, 정렬, 목표선, 미달만 강조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3A3A3"/>
                </a:solidFill>
                <a:latin typeface="Malgun Gothic"/>
              </a:rPr>
              <a:t>flow UI 개선 시안 · 2026-09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3A3A3"/>
                </a:solidFill>
                <a:latin typeface="Malgun Gothic"/>
              </a:rPr>
              <a:t>12</a:t>
            </a:r>
          </a:p>
        </p:txBody>
      </p:sp>
      <p:pic>
        <p:nvPicPr>
          <p:cNvPr id="7" name="Picture 6" descr="box_cur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62100"/>
            <a:ext cx="2743200" cy="1676400"/>
          </a:xfrm>
          <a:prstGeom prst="rect">
            <a:avLst/>
          </a:prstGeom>
        </p:spPr>
      </p:pic>
      <p:pic>
        <p:nvPicPr>
          <p:cNvPr id="8" name="Picture 7" descr="bar_cur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36620"/>
            <a:ext cx="2743200" cy="167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212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37373"/>
                </a:solidFill>
                <a:latin typeface="Malgun Gothic"/>
              </a:rPr>
              <a:t>현재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321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0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000" b="0">
                <a:solidFill>
                  <a:srgbClr val="404040"/>
                </a:solidFill>
                <a:latin typeface="Malgun Gothic"/>
              </a:rPr>
              <a:t>막대 y축 80에서 시작 → 차이 과장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000" b="0">
                <a:solidFill>
                  <a:srgbClr val="404040"/>
                </a:solidFill>
                <a:latin typeface="Malgun Gothic"/>
              </a:rPr>
              <a:t>계열마다 다른 색 = 의미 없는 색</a:t>
            </a:r>
          </a:p>
        </p:txBody>
      </p:sp>
      <p:pic>
        <p:nvPicPr>
          <p:cNvPr id="11" name="Picture 10" descr="box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788160"/>
            <a:ext cx="4023360" cy="2458720"/>
          </a:xfrm>
          <a:prstGeom prst="rect">
            <a:avLst/>
          </a:prstGeom>
        </p:spPr>
      </p:pic>
      <p:pic>
        <p:nvPicPr>
          <p:cNvPr id="12" name="Picture 11" descr="bar_repo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788160"/>
            <a:ext cx="4023360" cy="24587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66160" y="461772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25822"/>
                </a:solidFill>
                <a:latin typeface="Malgun Gothic"/>
              </a:rPr>
              <a:t>개선 · 상자그림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937760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Malgun Gothic"/>
              </a:rPr>
              <a:t>원점 산포를 옅게 겹쳐 표본 크기 체감, 조건명에 공정 의미 병기(Nitr. +5%), 변화량을 상자 옆에 직접 표기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61772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25822"/>
                </a:solidFill>
                <a:latin typeface="Malgun Gothic"/>
              </a:rPr>
              <a:t>개선 · 막대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937760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Malgun Gothic"/>
              </a:rPr>
              <a:t>가로 막대 + 값 정렬, 0% 기준 축, 목표 90% 점선, 미달 제품만 오렌지로 강조하고 제목에 결론 기재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5822"/>
                </a:solidFill>
                <a:latin typeface="Malgun Gothic"/>
              </a:rPr>
              <a:t>02 · 차트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1717"/>
                </a:solidFill>
                <a:latin typeface="Malgun Gothic"/>
              </a:rPr>
              <a:t>모든 차트에 공통 적용할 규칙 (chartTheme.js 한 곳에서 관리)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3A3A3"/>
                </a:solidFill>
                <a:latin typeface="Malgun Gothic"/>
              </a:rPr>
              <a:t>flow UI 개선 시안 · 2026-09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3A3A3"/>
                </a:solidFill>
                <a:latin typeface="Malgun Gothic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71717"/>
                </a:solidFill>
                <a:latin typeface="Malgun Gothic"/>
              </a:rPr>
              <a:t>타이포그래피 (화면 / 보고서 내보내기)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71717"/>
                </a:solidFill>
                <a:latin typeface="Malgun Gothic"/>
              </a:rPr>
              <a:t>제목 — 결론 문장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8308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Malgun Gothic"/>
              </a:rPr>
              <a:t>15 / 14pt · Bold · #1F2328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21408"/>
            <a:ext cx="530352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6712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71717"/>
                </a:solidFill>
                <a:latin typeface="Malgun Gothic"/>
              </a:rPr>
              <a:t>부제 — 대상·기간·n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16712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Malgun Gothic"/>
              </a:rPr>
              <a:t>12 / 10pt · #8A919C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05456"/>
            <a:ext cx="530352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5117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71717"/>
                </a:solidFill>
                <a:latin typeface="Malgun Gothic"/>
              </a:rPr>
              <a:t>축 제목 — 물리량 (단위)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551176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Malgun Gothic"/>
              </a:rPr>
              <a:t>12 / 10.5pt · #4B5563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89504"/>
            <a:ext cx="530352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3522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71717"/>
                </a:solidFill>
                <a:latin typeface="Malgun Gothic"/>
              </a:rPr>
              <a:t>눈금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935224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Malgun Gothic"/>
              </a:rPr>
              <a:t>11 / 10pt · 천 단위 구분, 유효자리 고정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73552"/>
            <a:ext cx="530352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31927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71717"/>
                </a:solidFill>
                <a:latin typeface="Malgun Gothic"/>
              </a:rPr>
              <a:t>주석·직접 라벨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319272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Malgun Gothic"/>
              </a:rPr>
              <a:t>11 / 9.5pt · 텍스트 색은 잉크, 색은 마커가 담당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57600"/>
            <a:ext cx="530352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70332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71717"/>
                </a:solidFill>
                <a:latin typeface="Malgun Gothic"/>
              </a:rPr>
              <a:t>출처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70332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Malgun Gothic"/>
              </a:rPr>
              <a:t>10 / 8.5pt · 좌하단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041648"/>
            <a:ext cx="530352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2519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71717"/>
                </a:solidFill>
                <a:latin typeface="Malgun Gothic"/>
              </a:rPr>
              <a:t>축 이름 자동 매핑 (항목 사전)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6177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37373"/>
                </a:solidFill>
                <a:latin typeface="Malgun Gothic"/>
              </a:rPr>
              <a:t>VTH_N_LIN_avg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46177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5822"/>
                </a:solidFill>
                <a:latin typeface="Malgun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617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71717"/>
                </a:solidFill>
                <a:latin typeface="Malgun Gothic"/>
              </a:rPr>
              <a:t>Vth,lin (V)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9834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37373"/>
                </a:solidFill>
                <a:latin typeface="Malgun Gothic"/>
              </a:rPr>
              <a:t>ION_N_SAT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498348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5822"/>
                </a:solidFill>
                <a:latin typeface="Malgun Gothic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49834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71717"/>
                </a:solidFill>
                <a:latin typeface="Malgun Gothic"/>
              </a:rPr>
              <a:t>Ion,sat (µA/µm)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349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37373"/>
                </a:solidFill>
                <a:latin typeface="Malgun Gothic"/>
              </a:rPr>
              <a:t>tkout_time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53492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5822"/>
                </a:solidFill>
                <a:latin typeface="Malgun Gothic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5349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71717"/>
                </a:solidFill>
                <a:latin typeface="Malgun Gothic"/>
              </a:rPr>
              <a:t>Track-out 일자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7150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37373"/>
                </a:solidFill>
                <a:latin typeface="Malgun Gothic"/>
              </a:rPr>
              <a:t>yield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57150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5822"/>
                </a:solidFill>
                <a:latin typeface="Malgun Gothic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5715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71717"/>
                </a:solidFill>
                <a:latin typeface="Malgun Gothic"/>
              </a:rPr>
              <a:t>Wafer 수율 (%)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1417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71717"/>
                </a:solidFill>
                <a:latin typeface="Malgun Gothic"/>
              </a:rPr>
              <a:t>색 — 20색 순환에서 6색 고정 순서로</a:t>
            </a:r>
          </a:p>
        </p:txBody>
      </p:sp>
      <p:pic>
        <p:nvPicPr>
          <p:cNvPr id="39" name="Picture 38" descr="palette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8756"/>
            <a:ext cx="5394960" cy="142367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309360" y="3337560"/>
            <a:ext cx="5394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100" b="0">
                <a:solidFill>
                  <a:srgbClr val="404040"/>
                </a:solidFill>
                <a:latin typeface="Malgun Gothic"/>
              </a:rPr>
              <a:t>색각이상 시뮬레이션 인접쌍 ΔE ≥ 11 (validator 통과), 7번째 계열부터는 ‘기타’ 회색으로 묶음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100" b="0">
                <a:solidFill>
                  <a:srgbClr val="404040"/>
                </a:solidFill>
                <a:latin typeface="Malgun Gothic"/>
              </a:rPr>
              <a:t>색은 값(설비·조건)을 따라감 — 필터로 계열이 줄어도 남은 계열 색 유지 (현행 buildSeriesColors 원칙 유지)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100" b="0">
                <a:solidFill>
                  <a:srgbClr val="404040"/>
                </a:solidFill>
                <a:latin typeface="Malgun Gothic"/>
              </a:rPr>
              <a:t>스펙·목표선은 회색 점선 + 라벨, 경고색(빨강)은 이탈 표시에만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100" b="0">
                <a:solidFill>
                  <a:srgbClr val="404040"/>
                </a:solidFill>
                <a:latin typeface="Malgun Gothic"/>
              </a:rPr>
              <a:t>이중 y축 금지 — 단위가 다르면 작은 여러 차트(small multiples)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100" b="0">
                <a:solidFill>
                  <a:srgbClr val="404040"/>
                </a:solidFill>
                <a:latin typeface="Malgun Gothic"/>
              </a:rPr>
              <a:t>간격: 제목↔플롯 16px, 축 제목 standoff 8px, 플롯 좌측 여백은 눈금 길이에 맞춰 자동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5822"/>
                </a:solidFill>
                <a:latin typeface="Malgun Gothic"/>
              </a:rPr>
              <a:t>02 · 차트생성 신규 유형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1717"/>
                </a:solidFill>
                <a:latin typeface="Malgun Gothic"/>
              </a:rPr>
              <a:t>Spotfire형 상자그림 + 요약 통계표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Malgun Gothic"/>
              </a:rPr>
              <a:t>상자 바로 아래에 같은 x 위치로 집계값을 정렬합니다. 표의 행은 사용자가 선택 (n · Mean · Median · Std · Min · Max · Cpk · Δ vs Ref 등).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3A3A3"/>
                </a:solidFill>
                <a:latin typeface="Malgun Gothic"/>
              </a:rPr>
              <a:t>flow UI 개선 시안 · 2026-09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3A3A3"/>
                </a:solidFill>
                <a:latin typeface="Malgun Gothic"/>
              </a:rPr>
              <a:t>14</a:t>
            </a:r>
          </a:p>
        </p:txBody>
      </p:sp>
      <p:pic>
        <p:nvPicPr>
          <p:cNvPr id="7" name="Picture 6" descr="box_ag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546" y="1554480"/>
            <a:ext cx="6820746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1737360"/>
            <a:ext cx="39319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150" b="1">
                <a:solidFill>
                  <a:srgbClr val="404040"/>
                </a:solidFill>
                <a:latin typeface="Malgun Gothic"/>
              </a:rPr>
              <a:t>정렬: </a:t>
            </a:r>
            <a:r>
              <a:rPr sz="1150" b="0">
                <a:solidFill>
                  <a:srgbClr val="404040"/>
                </a:solidFill>
                <a:latin typeface="Malgun Gothic"/>
              </a:rPr>
              <a:t>표 열 = 상자 위치. 조건이 늘어나면 표도 함께 확장, 가로 스크롤 동기화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150" b="1">
                <a:solidFill>
                  <a:srgbClr val="404040"/>
                </a:solidFill>
                <a:latin typeface="Malgun Gothic"/>
              </a:rPr>
              <a:t>행 선택: </a:t>
            </a:r>
            <a:r>
              <a:rPr sz="1150" b="0">
                <a:solidFill>
                  <a:srgbClr val="404040"/>
                </a:solidFill>
                <a:latin typeface="Malgun Gothic"/>
              </a:rPr>
              <a:t>집계 함수 체크박스 + 사용자 수식 행 (예: P95 − P5)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150" b="1">
                <a:solidFill>
                  <a:srgbClr val="404040"/>
                </a:solidFill>
                <a:latin typeface="Malgun Gothic"/>
              </a:rPr>
              <a:t>강조: </a:t>
            </a:r>
            <a:r>
              <a:rPr sz="1150" b="0">
                <a:solidFill>
                  <a:srgbClr val="404040"/>
                </a:solidFill>
                <a:latin typeface="Malgun Gothic"/>
              </a:rPr>
              <a:t>Ref 대비 Δ가 임계값을 넘는 셀만 오렌지 · 굵게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150" b="1">
                <a:solidFill>
                  <a:srgbClr val="404040"/>
                </a:solidFill>
                <a:latin typeface="Malgun Gothic"/>
              </a:rPr>
              <a:t>내보내기: </a:t>
            </a:r>
            <a:r>
              <a:rPr sz="1150" b="0">
                <a:solidFill>
                  <a:srgbClr val="404040"/>
                </a:solidFill>
                <a:latin typeface="Malgun Gothic"/>
              </a:rPr>
              <a:t>PNG/PPT로 내보낼 때 표가 차트와 한 그림으로 묶임 → Template Report에 그대로 사용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150" b="1">
                <a:solidFill>
                  <a:srgbClr val="404040"/>
                </a:solidFill>
                <a:latin typeface="Malgun Gothic"/>
              </a:rPr>
              <a:t>현재 대비: </a:t>
            </a:r>
            <a:r>
              <a:rPr sz="1150" b="0">
                <a:solidFill>
                  <a:srgbClr val="404040"/>
                </a:solidFill>
                <a:latin typeface="Malgun Gothic"/>
              </a:rPr>
              <a:t>차트생성에 box는 있으나 집계표·평균 마커·원점 겹치기는 없음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5822"/>
                </a:solidFill>
                <a:latin typeface="Malgun Gothic"/>
              </a:rPr>
              <a:t>02 · 차트생성 신규 유형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1717"/>
                </a:solidFill>
                <a:latin typeface="Malgun Gothic"/>
              </a:rPr>
              <a:t>정규 확률도 · 히트맵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Malgun Gothic"/>
              </a:rPr>
              <a:t>현재 차트생성 유형(scatter · line · bar · box · pie/donut · wafer map)에 없는 분석용 유형입니다.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3A3A3"/>
                </a:solidFill>
                <a:latin typeface="Malgun Gothic"/>
              </a:rPr>
              <a:t>flow UI 개선 시안 · 2026-09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3A3A3"/>
                </a:solidFill>
                <a:latin typeface="Malgun Gothic"/>
              </a:rPr>
              <a:t>15</a:t>
            </a:r>
          </a:p>
        </p:txBody>
      </p:sp>
      <p:pic>
        <p:nvPicPr>
          <p:cNvPr id="7" name="Picture 6" descr="prob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7686"/>
            <a:ext cx="5577840" cy="3559746"/>
          </a:xfrm>
          <a:prstGeom prst="rect">
            <a:avLst/>
          </a:prstGeom>
        </p:spPr>
      </p:pic>
      <p:pic>
        <p:nvPicPr>
          <p:cNvPr id="8" name="Picture 7" descr="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96720"/>
            <a:ext cx="5577840" cy="30987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25780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100" b="0">
                <a:solidFill>
                  <a:srgbClr val="404040"/>
                </a:solidFill>
                <a:latin typeface="Malgun Gothic"/>
              </a:rPr>
              <a:t>y축 = 정규 누적확률 눈금(0.1~99.9%), 조건별 적합 직선과 μ·σ 표기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100" b="0">
                <a:solidFill>
                  <a:srgbClr val="404040"/>
                </a:solidFill>
                <a:latin typeface="Malgun Gothic"/>
              </a:rPr>
              <a:t>LSL/USL 세로선 → 이탈 비율을 눈금에서 바로 읽음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25780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100" b="0">
                <a:solidFill>
                  <a:srgbClr val="404040"/>
                </a:solidFill>
                <a:latin typeface="Malgun Gothic"/>
              </a:rPr>
              <a:t>행·열 = 임의 두 범주(Split × ET 항목, Lot × Zone 등), 셀 값 표기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100" b="0">
                <a:solidFill>
                  <a:srgbClr val="404040"/>
                </a:solidFill>
                <a:latin typeface="Malgun Gothic"/>
              </a:rPr>
              <a:t>0 중심 발산형(파랑↔회색↔주황) / 크기는 단일 색 순차형 — 무지개 금지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5822"/>
                </a:solidFill>
                <a:latin typeface="Malgun Gothic"/>
              </a:rPr>
              <a:t>02 · 차트생성 신규 유형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1717"/>
                </a:solidFill>
                <a:latin typeface="Malgun Gothic"/>
              </a:rPr>
              <a:t>수식으로 정의하는 기준선·도형, 리포트형 파이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Malgun Gothic"/>
              </a:rPr>
              <a:t>차트 옵션에 ‘오버레이’ 목록을 추가합니다. 각 줄이 선·밴드·도형 하나이며 컬럼 통계 함수를 쓸 수 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3A3A3"/>
                </a:solidFill>
                <a:latin typeface="Malgun Gothic"/>
              </a:rPr>
              <a:t>flow UI 개선 시안 · 2026-09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3A3A3"/>
                </a:solidFill>
                <a:latin typeface="Malgun Gothic"/>
              </a:rPr>
              <a:t>16</a:t>
            </a:r>
          </a:p>
        </p:txBody>
      </p:sp>
      <p:pic>
        <p:nvPicPr>
          <p:cNvPr id="7" name="Picture 6" descr="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62100"/>
            <a:ext cx="5394960" cy="3596640"/>
          </a:xfrm>
          <a:prstGeom prst="rect">
            <a:avLst/>
          </a:prstGeom>
        </p:spPr>
      </p:pic>
      <p:pic>
        <p:nvPicPr>
          <p:cNvPr id="8" name="Picture 7" descr="don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568767"/>
            <a:ext cx="3017520" cy="20745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0" y="1645920"/>
            <a:ext cx="24688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71717"/>
                </a:solidFill>
                <a:latin typeface="Malgun Gothic"/>
              </a:rPr>
              <a:t>파이 · 도넛</a:t>
            </a:r>
          </a:p>
          <a:p>
            <a:pPr algn="l"/>
            <a:r>
              <a:rPr sz="1300" b="1">
                <a:solidFill>
                  <a:srgbClr val="171717"/>
                </a:solidFill>
                <a:latin typeface="Malgun Gothic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011680"/>
            <a:ext cx="24231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Malgun Gothic"/>
              </a:rPr>
              <a:t>조각 최대 5개 + 기타, 12시 방향 시작·큰 순서, 라벨·비율 직접 표기, 가운데 합계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840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71717"/>
                </a:solidFill>
                <a:latin typeface="Malgun Gothic"/>
              </a:rPr>
              <a:t>오버레이 문법 (예시)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1879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E25822"/>
                </a:solidFill>
                <a:latin typeface="Malgun Gothic"/>
              </a:rPr>
              <a:t>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418795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F6390"/>
                </a:solidFill>
                <a:latin typeface="Malgun Gothic"/>
              </a:rPr>
              <a:t>y = 1500 - 2700*x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418795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Malgun Gothic"/>
              </a:rPr>
              <a:t>목표식·물리 모델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5262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E25822"/>
                </a:solidFill>
                <a:latin typeface="Malgun Gothic"/>
              </a:rPr>
              <a:t>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45262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F6390"/>
                </a:solidFill>
                <a:latin typeface="Malgun Gothic"/>
              </a:rPr>
              <a:t>poly(1) by split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45262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Malgun Gothic"/>
              </a:rPr>
              <a:t>회귀선 + R²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48646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E25822"/>
                </a:solidFill>
                <a:latin typeface="Malgun Gothic"/>
              </a:rPr>
              <a:t>hline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86460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F6390"/>
                </a:solidFill>
                <a:latin typeface="Malgun Gothic"/>
              </a:rPr>
              <a:t>y = mean(Y) ± 3*std(Y)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486460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Malgun Gothic"/>
              </a:rPr>
              <a:t>통계 기준선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520293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E25822"/>
                </a:solidFill>
                <a:latin typeface="Malgun Gothic"/>
              </a:rPr>
              <a:t>band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520293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F6390"/>
                </a:solidFill>
                <a:latin typeface="Malgun Gothic"/>
              </a:rPr>
              <a:t>y in [LSL(Y), USL(Y)]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520293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Malgun Gothic"/>
              </a:rPr>
              <a:t>스펙 음영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55412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E25822"/>
                </a:solidFill>
                <a:latin typeface="Malgun Gothic"/>
              </a:rPr>
              <a:t>rect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554126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F6390"/>
                </a:solidFill>
                <a:latin typeface="Malgun Gothic"/>
              </a:rPr>
              <a:t>x in [0.300,0.345], y in [580,670]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554126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Malgun Gothic"/>
              </a:rPr>
              <a:t>운영 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87959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E25822"/>
                </a:solidFill>
                <a:latin typeface="Malgun Gothic"/>
              </a:rPr>
              <a:t>ellipse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58795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F6390"/>
                </a:solidFill>
                <a:latin typeface="Malgun Gothic"/>
              </a:rPr>
              <a:t>conf(0.95) by split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58795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Malgun Gothic"/>
              </a:rPr>
              <a:t>신뢰 타원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303520"/>
            <a:ext cx="5394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050" b="0">
                <a:solidFill>
                  <a:srgbClr val="404040"/>
                </a:solidFill>
                <a:latin typeface="Malgun Gothic"/>
              </a:rPr>
              <a:t>LSL()/USL()는 기존 스펙 테이블 연동, 오버레이는 차트 설정과 함께 저장되어 Template Report에서 재사용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050" b="0">
                <a:solidFill>
                  <a:srgbClr val="404040"/>
                </a:solidFill>
                <a:latin typeface="Malgun Gothic"/>
              </a:rPr>
              <a:t>수식 오류는 해당 줄 옆에 즉시 표시 (현행 색 규칙 수식과 같은 파서 사용)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5822"/>
                </a:solidFill>
                <a:latin typeface="Malgun Gothic"/>
              </a:rPr>
              <a:t>03 · 업무 탭 디자인 통일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1717"/>
                </a:solidFill>
                <a:latin typeface="Malgun Gothic"/>
              </a:rPr>
              <a:t>현재: 토큰은 있지만 탭마다 인라인 스타일로 다시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Malgun Gothic"/>
              </a:rPr>
              <a:t>tokens.css에 간격·반경·컨트롤 높이가 정의되어 있으나, 7개 탭 JSX에서 직접 값을 쓰는 곳이 많습니다. (grep 집계)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3A3A3"/>
                </a:solidFill>
                <a:latin typeface="Malgun Gothic"/>
              </a:rPr>
              <a:t>flow UI 개선 시안 · 2026-09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3A3A3"/>
                </a:solidFill>
                <a:latin typeface="Malgun Gothic"/>
              </a:rPr>
              <a:t>17</a:t>
            </a:r>
          </a:p>
        </p:txBody>
      </p:sp>
      <p:pic>
        <p:nvPicPr>
          <p:cNvPr id="7" name="Picture 6" descr="tab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7057"/>
            <a:ext cx="11247120" cy="31866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98348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150" b="0">
                <a:solidFill>
                  <a:srgbClr val="404040"/>
                </a:solidFill>
                <a:latin typeface="Malgun Gothic"/>
              </a:rPr>
              <a:t>같은 ‘조회’ 버튼·필터 줄·표 헤더가 탭마다 높이·반경·폰트가 조금씩 달라 화면 전환 시 결이 끊김 (예: 반경 토큰 2/4/8px ↔ 실제 사용 0~10px 10종)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150" b="0">
                <a:solidFill>
                  <a:srgbClr val="404040"/>
                </a:solidFill>
                <a:latin typeface="Malgun Gothic"/>
              </a:rPr>
              <a:t>스플릿 테이블은 인라인 스타일 578곳 · 하드코딩 색 44종 — 통일 작업의 가장 큰 대상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E25822"/>
                </a:solidFill>
                <a:latin typeface="Malgun Gothic"/>
              </a:rPr>
              <a:t>·  </a:t>
            </a:r>
            <a:r>
              <a:rPr sz="1150" b="0">
                <a:solidFill>
                  <a:srgbClr val="404040"/>
                </a:solidFill>
                <a:latin typeface="Malgun Gothic"/>
              </a:rPr>
              <a:t>UXKit에 Btn · Input · Select · Tbl · TabStrip · PageHeader · Toolbar · Panel이 이미 있음 → 새로 만들기보다 ‘강제 사용 + 토큰 정리’가 핵심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5822"/>
                </a:solidFill>
                <a:latin typeface="Malgun Gothic"/>
              </a:rPr>
              <a:t>03 · 디자인 시스템 3안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1717"/>
                </a:solidFill>
                <a:latin typeface="Malgun Gothic"/>
              </a:rPr>
              <a:t>같은 화면(매칭알람)을 세 가지 결로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Malgun Gothic"/>
              </a:rPr>
              <a:t>헤더 → 필터 줄 → KPI → 목록/차트 순서의 공통 골격은 동일하고, 면 구분 방식과 밀도만 다릅니다.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3A3A3"/>
                </a:solidFill>
                <a:latin typeface="Malgun Gothic"/>
              </a:rPr>
              <a:t>flow UI 개선 시안 · 2026-09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3A3A3"/>
                </a:solidFill>
                <a:latin typeface="Malgun Gothic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3611880" cy="2103120"/>
          </a:xfrm>
          <a:prstGeom prst="rect">
            <a:avLst/>
          </a:prstGeom>
          <a:noFill/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s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819384"/>
            <a:ext cx="3575304" cy="1664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86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25822"/>
                </a:solidFill>
                <a:latin typeface="Malgun Gothic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2277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71717"/>
                </a:solidFill>
                <a:latin typeface="Malgun Gothic"/>
              </a:rPr>
              <a:t>플랫 구분선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3950208"/>
            <a:ext cx="490118" cy="237744"/>
          </a:xfrm>
          <a:prstGeom prst="roundRect">
            <a:avLst>
              <a:gd name="adj" fmla="val 50000"/>
            </a:avLst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추천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3611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404040"/>
                </a:solidFill>
                <a:latin typeface="Malgun Gothic"/>
              </a:rPr>
              <a:t>카드 없이 1px 구분선으로 영역 분리. 컨트롤 32px · 반경 4px · 여백 16/24. 현재 토큰 그대로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1600200"/>
            <a:ext cx="3611880" cy="2103120"/>
          </a:xfrm>
          <a:prstGeom prst="rect">
            <a:avLst/>
          </a:prstGeom>
          <a:noFill/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s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79" y="1686707"/>
            <a:ext cx="3575304" cy="193010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79392" y="3886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25822"/>
                </a:solidFill>
                <a:latin typeface="Malgun Gothic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392277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71717"/>
                </a:solidFill>
                <a:latin typeface="Malgun Gothic"/>
              </a:rPr>
              <a:t>소프트 패널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9392" y="4389120"/>
            <a:ext cx="3611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404040"/>
                </a:solidFill>
                <a:latin typeface="Malgun Gothic"/>
              </a:rPr>
              <a:t>회색 바탕 위 흰 패널(반경 8px, 약한 그림자). 영역 구분이 가장 쉬우나 화면 밀도 낮음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3" y="1600200"/>
            <a:ext cx="3611880" cy="2103120"/>
          </a:xfrm>
          <a:prstGeom prst="rect">
            <a:avLst/>
          </a:prstGeom>
          <a:noFill/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s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1" y="1912956"/>
            <a:ext cx="3575304" cy="147760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101583" y="3886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25822"/>
                </a:solidFill>
                <a:latin typeface="Malgun Gothic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392277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71717"/>
                </a:solidFill>
                <a:latin typeface="Malgun Gothic"/>
              </a:rPr>
              <a:t>고밀도 엔지니어링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4389120"/>
            <a:ext cx="3611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404040"/>
                </a:solidFill>
                <a:latin typeface="Malgun Gothic"/>
              </a:rPr>
              <a:t>컨트롤 28px · 본문 12px · 숫자 고정폭. 한 화면에 가장 많은 행, 장시간 표 작업용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321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404040"/>
                </a:solidFill>
                <a:latin typeface="Malgun Gothic"/>
              </a:rPr>
              <a:t>참고: </a:t>
            </a:r>
            <a:r>
              <a:rPr sz="1150" b="0">
                <a:solidFill>
                  <a:srgbClr val="404040"/>
                </a:solidFill>
                <a:latin typeface="Malgun Gothic"/>
              </a:rPr>
              <a:t>A를 기본으로 두고 스플릿 테이블·랏 관리처럼 표 중심 탭에는 C의 ‘고밀도’ 표 옵션만 토글로 제공하는 조합도 가능합니다.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5822"/>
                </a:solidFill>
                <a:latin typeface="Malgun Gothic"/>
              </a:rPr>
              <a:t>03 · 페이지 템플릿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1717"/>
                </a:solidFill>
                <a:latin typeface="Malgun Gothic"/>
              </a:rPr>
              <a:t>모든 업무 탭을 4개 템플릿에 배치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Malgun Gothic"/>
              </a:rPr>
              <a:t>pageManifest.jsx의 layout 값(analysis · explorer · workboard · workflow)을 실제 템플릿 컴포넌트로 만듭니다.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3A3A3"/>
                </a:solidFill>
                <a:latin typeface="Malgun Gothic"/>
              </a:rPr>
              <a:t>flow UI 개선 시안 · 2026-09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3A3A3"/>
                </a:solidFill>
                <a:latin typeface="Malgun Gothic"/>
              </a:rPr>
              <a:t>19</a:t>
            </a:r>
          </a:p>
        </p:txBody>
      </p:sp>
      <p:pic>
        <p:nvPicPr>
          <p:cNvPr id="7" name="Picture 6" descr="ds_templ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80197"/>
            <a:ext cx="11247120" cy="35147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212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5822"/>
                </a:solidFill>
                <a:latin typeface="Malgun Gothic"/>
              </a:rPr>
              <a:t>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521208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Malgun Gothic"/>
              </a:rPr>
              <a:t>대시보드 · TEG · ET 측정시간 · LOT Tracker · WF MAP · 차트생성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0468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5822"/>
                </a:solidFill>
                <a:latin typeface="Malgun Gothic"/>
              </a:rPr>
              <a:t>Explorer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55046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Malgun Gothic"/>
              </a:rPr>
              <a:t>스플릿 테이블 · 랏 관리 · 파일탐색기 · 제품 Wiki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972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5822"/>
                </a:solidFill>
                <a:latin typeface="Malgun Gothic"/>
              </a:rPr>
              <a:t>Workboard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5797296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Malgun Gothic"/>
              </a:rPr>
              <a:t>매칭알람 · 인폼 로그 · 회의관리 · 변경점 관리 · ET 추적 · 랏 배정/요청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8990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5822"/>
                </a:solidFill>
                <a:latin typeface="Malgun Gothic"/>
              </a:rPr>
              <a:t>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608990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Malgun Gothic"/>
              </a:rPr>
              <a:t>양산 DCOP 검사 · Template/Auto report · ET 다운로드 · 매칭 채우기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5822"/>
                </a:solidFill>
                <a:latin typeface="Malgun Gothic"/>
              </a:rPr>
              <a:t>03 · 토큰 · 컴포넌트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1717"/>
                </a:solidFill>
                <a:latin typeface="Malgun Gothic"/>
              </a:rPr>
              <a:t>컬러 · 간격 · 타이포 · 컴포넌트 가이드 (A안 기준)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3A3A3"/>
                </a:solidFill>
                <a:latin typeface="Malgun Gothic"/>
              </a:rPr>
              <a:t>flow UI 개선 시안 · 2026-09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3A3A3"/>
                </a:solidFill>
                <a:latin typeface="Malgun Gothic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71717"/>
                </a:solidFill>
                <a:latin typeface="Malgun Gothic"/>
              </a:rPr>
              <a:t>컬러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960120" cy="411480"/>
          </a:xfrm>
          <a:prstGeom prst="roundRect">
            <a:avLst>
              <a:gd name="adj" fmla="val 12000"/>
            </a:avLst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71717"/>
                </a:solidFill>
                <a:latin typeface="Malgun Gothic"/>
              </a:rPr>
              <a:t>Brand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95728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737373"/>
                </a:solidFill>
                <a:latin typeface="Malgun Gothic"/>
              </a:rPr>
              <a:t>#E25822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737373"/>
                </a:solidFill>
                <a:latin typeface="Malgun Gothic"/>
              </a:rPr>
              <a:t>주요 버튼·선택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72768" y="1737360"/>
            <a:ext cx="960120" cy="411480"/>
          </a:xfrm>
          <a:prstGeom prst="roundRect">
            <a:avLst>
              <a:gd name="adj" fmla="val 12000"/>
            </a:avLst>
          </a:prstGeom>
          <a:solidFill>
            <a:srgbClr val="3F63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72768" y="2194560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71717"/>
                </a:solidFill>
                <a:latin typeface="Malgun Gothic"/>
              </a:rPr>
              <a:t>Steel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395728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737373"/>
                </a:solidFill>
                <a:latin typeface="Malgun Gothic"/>
              </a:rPr>
              <a:t>#3F6390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560320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737373"/>
                </a:solidFill>
                <a:latin typeface="Malgun Gothic"/>
              </a:rPr>
              <a:t>data 계열·링크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88336" y="1737360"/>
            <a:ext cx="960120" cy="411480"/>
          </a:xfrm>
          <a:prstGeom prst="roundRect">
            <a:avLst>
              <a:gd name="adj" fmla="val 12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88336" y="2194560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71717"/>
                </a:solidFill>
                <a:latin typeface="Malgun Gothic"/>
              </a:rPr>
              <a:t>Text strong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88336" y="2395728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737373"/>
                </a:solidFill>
                <a:latin typeface="Malgun Gothic"/>
              </a:rPr>
              <a:t>#171717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8336" y="2560320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737373"/>
                </a:solidFill>
                <a:latin typeface="Malgun Gothic"/>
              </a:rPr>
              <a:t>본문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03904" y="1737360"/>
            <a:ext cx="960120" cy="411480"/>
          </a:xfrm>
          <a:prstGeom prst="roundRect">
            <a:avLst>
              <a:gd name="adj" fmla="val 12000"/>
            </a:avLst>
          </a:prstGeom>
          <a:solidFill>
            <a:srgbClr val="73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03904" y="2194560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71717"/>
                </a:solidFill>
                <a:latin typeface="Malgun Gothic"/>
              </a:rPr>
              <a:t>Text muted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03904" y="2395728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737373"/>
                </a:solidFill>
                <a:latin typeface="Malgun Gothic"/>
              </a:rPr>
              <a:t>#737373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2560320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737373"/>
                </a:solidFill>
                <a:latin typeface="Malgun Gothic"/>
              </a:rPr>
              <a:t>보조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19472" y="1737360"/>
            <a:ext cx="960120" cy="411480"/>
          </a:xfrm>
          <a:prstGeom prst="roundRect">
            <a:avLst>
              <a:gd name="adj" fmla="val 12000"/>
            </a:avLst>
          </a:prstGeom>
          <a:solidFill>
            <a:srgbClr val="E5E5E5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9472" y="2194560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71717"/>
                </a:solidFill>
                <a:latin typeface="Malgun Gothic"/>
              </a:rPr>
              <a:t>Border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9472" y="2395728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737373"/>
                </a:solidFill>
                <a:latin typeface="Malgun Gothic"/>
              </a:rPr>
              <a:t>#E5E5E5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9472" y="2560320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737373"/>
                </a:solidFill>
                <a:latin typeface="Malgun Gothic"/>
              </a:rPr>
              <a:t>구분선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761488"/>
            <a:ext cx="960120" cy="411480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218688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71717"/>
                </a:solidFill>
                <a:latin typeface="Malgun Gothic"/>
              </a:rPr>
              <a:t>Surface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419856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737373"/>
                </a:solidFill>
                <a:latin typeface="Malgun Gothic"/>
              </a:rPr>
              <a:t>#FAFAFA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584448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737373"/>
                </a:solidFill>
                <a:latin typeface="Malgun Gothic"/>
              </a:rPr>
              <a:t>표 헤더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72768" y="2761488"/>
            <a:ext cx="960120" cy="411480"/>
          </a:xfrm>
          <a:prstGeom prst="roundRect">
            <a:avLst>
              <a:gd name="adj" fmla="val 12000"/>
            </a:avLst>
          </a:prstGeom>
          <a:solidFill>
            <a:srgbClr val="168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72768" y="3218688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71717"/>
                </a:solidFill>
                <a:latin typeface="Malgun Gothic"/>
              </a:rPr>
              <a:t>Success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72768" y="3419856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737373"/>
                </a:solidFill>
                <a:latin typeface="Malgun Gothic"/>
              </a:rPr>
              <a:t>#16803C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72768" y="3584448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737373"/>
                </a:solidFill>
                <a:latin typeface="Malgun Gothic"/>
              </a:rPr>
              <a:t>정상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88336" y="2761488"/>
            <a:ext cx="960120" cy="411480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88336" y="3218688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71717"/>
                </a:solidFill>
                <a:latin typeface="Malgun Gothic"/>
              </a:rPr>
              <a:t>Warning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88336" y="3419856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737373"/>
                </a:solidFill>
                <a:latin typeface="Malgun Gothic"/>
              </a:rPr>
              <a:t>#B45309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88336" y="3584448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737373"/>
                </a:solidFill>
                <a:latin typeface="Malgun Gothic"/>
              </a:rPr>
              <a:t>Trend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03904" y="2761488"/>
            <a:ext cx="960120" cy="411480"/>
          </a:xfrm>
          <a:prstGeom prst="roundRect">
            <a:avLst>
              <a:gd name="adj" fmla="val 12000"/>
            </a:avLst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03904" y="3218688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71717"/>
                </a:solidFill>
                <a:latin typeface="Malgun Gothic"/>
              </a:rPr>
              <a:t>Danger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03904" y="3419856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737373"/>
                </a:solidFill>
                <a:latin typeface="Malgun Gothic"/>
              </a:rPr>
              <a:t>#C81E1E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03904" y="3584448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737373"/>
                </a:solidFill>
                <a:latin typeface="Malgun Gothic"/>
              </a:rPr>
              <a:t>Spec-out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19472" y="2761488"/>
            <a:ext cx="960120" cy="41148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19472" y="3218688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71717"/>
                </a:solidFill>
                <a:latin typeface="Malgun Gothic"/>
              </a:rPr>
              <a:t>Info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19472" y="3419856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737373"/>
                </a:solidFill>
                <a:latin typeface="Malgun Gothic"/>
              </a:rPr>
              <a:t>#2563EB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19472" y="3584448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737373"/>
                </a:solidFill>
                <a:latin typeface="Malgun Gothic"/>
              </a:rPr>
              <a:t>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13716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71717"/>
                </a:solidFill>
                <a:latin typeface="Malgun Gothic"/>
              </a:rPr>
              <a:t>간격 (4px 배수)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2181758"/>
            <a:ext cx="58521" cy="58521"/>
          </a:xfrm>
          <a:prstGeom prst="rect">
            <a:avLst/>
          </a:prstGeom>
          <a:solidFill>
            <a:srgbClr val="FDF2EB"/>
          </a:solidFill>
          <a:ln w="9525">
            <a:solidFill>
              <a:srgbClr val="F4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0" y="228600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  <a:latin typeface="Malgun Gothic"/>
              </a:rPr>
              <a:t>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48272" y="2123236"/>
            <a:ext cx="117043" cy="117043"/>
          </a:xfrm>
          <a:prstGeom prst="rect">
            <a:avLst/>
          </a:prstGeom>
          <a:solidFill>
            <a:srgbClr val="FDF2EB"/>
          </a:solidFill>
          <a:ln w="9525">
            <a:solidFill>
              <a:srgbClr val="F4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48272" y="228600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  <a:latin typeface="Malgun Gothic"/>
              </a:rPr>
              <a:t>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78624" y="2064715"/>
            <a:ext cx="175564" cy="175564"/>
          </a:xfrm>
          <a:prstGeom prst="rect">
            <a:avLst/>
          </a:prstGeom>
          <a:solidFill>
            <a:srgbClr val="FDF2EB"/>
          </a:solidFill>
          <a:ln w="9525">
            <a:solidFill>
              <a:srgbClr val="F4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78624" y="228600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  <a:latin typeface="Malgun Gothic"/>
              </a:rPr>
              <a:t>12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08975" y="2006193"/>
            <a:ext cx="234086" cy="234086"/>
          </a:xfrm>
          <a:prstGeom prst="rect">
            <a:avLst/>
          </a:prstGeom>
          <a:solidFill>
            <a:srgbClr val="FDF2EB"/>
          </a:solidFill>
          <a:ln w="9525">
            <a:solidFill>
              <a:srgbClr val="F4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08975" y="228600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  <a:latin typeface="Malgun Gothic"/>
              </a:rPr>
              <a:t>16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39327" y="1889150"/>
            <a:ext cx="351129" cy="351129"/>
          </a:xfrm>
          <a:prstGeom prst="rect">
            <a:avLst/>
          </a:prstGeom>
          <a:solidFill>
            <a:srgbClr val="FDF2EB"/>
          </a:solidFill>
          <a:ln w="9525">
            <a:solidFill>
              <a:srgbClr val="F4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39327" y="228600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  <a:latin typeface="Malgun Gothic"/>
              </a:rPr>
              <a:t>24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69680" y="1772107"/>
            <a:ext cx="468172" cy="468172"/>
          </a:xfrm>
          <a:prstGeom prst="rect">
            <a:avLst/>
          </a:prstGeom>
          <a:solidFill>
            <a:srgbClr val="FDF2EB"/>
          </a:solidFill>
          <a:ln w="9525">
            <a:solidFill>
              <a:srgbClr val="F4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869680" y="228600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  <a:latin typeface="Malgun Gothic"/>
              </a:rPr>
              <a:t>32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0" y="251460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37373"/>
                </a:solidFill>
                <a:latin typeface="Malgun Gothic"/>
              </a:rPr>
              <a:t>필드 간 8 · 섹션 내부 16 · 섹션 좌우 24 · 페이지 블록 32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75520" y="13716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71717"/>
                </a:solidFill>
                <a:latin typeface="Malgun Gothic"/>
              </a:rPr>
              <a:t>타이포 4단계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75520" y="17190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40" b="1">
                <a:solidFill>
                  <a:srgbClr val="171717"/>
                </a:solidFill>
                <a:latin typeface="Malgun Gothic"/>
              </a:rPr>
              <a:t>페이지 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75520" y="2011679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2" b="1">
                <a:solidFill>
                  <a:srgbClr val="171717"/>
                </a:solidFill>
                <a:latin typeface="Malgun Gothic"/>
              </a:rPr>
              <a:t>섹션 16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75520" y="23042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8" b="0">
                <a:solidFill>
                  <a:srgbClr val="171717"/>
                </a:solidFill>
                <a:latin typeface="Malgun Gothic"/>
              </a:rPr>
              <a:t>본문 14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75520" y="259689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4" b="0">
                <a:solidFill>
                  <a:srgbClr val="171717"/>
                </a:solidFill>
                <a:latin typeface="Malgun Gothic"/>
              </a:rPr>
              <a:t>캡션 12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17920" y="2926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Malgun Gothic"/>
              </a:rPr>
              <a:t>반경 2 · 4 · 8 (그 외 금지) · 컨트롤 높이 28 / 32</a:t>
            </a:r>
          </a:p>
        </p:txBody>
      </p:sp>
      <p:pic>
        <p:nvPicPr>
          <p:cNvPr id="67" name="Picture 66" descr="ds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3749039"/>
            <a:ext cx="11119104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5822"/>
                </a:solidFill>
                <a:latin typeface="Malgun Gothic"/>
              </a:rPr>
              <a:t>다음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1717"/>
                </a:solidFill>
                <a:latin typeface="Malgun Gothic"/>
              </a:rPr>
              <a:t>선택해 주실 항목과 적용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3A3A3"/>
                </a:solidFill>
                <a:latin typeface="Malgun Gothic"/>
              </a:rPr>
              <a:t>flow UI 개선 시안 · 2026-09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3A3A3"/>
                </a:solidFill>
                <a:latin typeface="Malgun Gothic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25822"/>
                </a:solidFill>
                <a:latin typeface="Malgun Gothic"/>
              </a:rPr>
              <a:t>01-1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630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71717"/>
                </a:solidFill>
                <a:latin typeface="Malgun Gothic"/>
              </a:rPr>
              <a:t>홈 아이콘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481328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Malgun Gothic"/>
              </a:rPr>
              <a:t>A 클레이 / B 아이소 3D (추천) / C 셀 셰이딩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1127455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29968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25822"/>
                </a:solidFill>
                <a:latin typeface="Malgun Gothic"/>
              </a:rPr>
              <a:t>01-2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0299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71717"/>
                </a:solidFill>
                <a:latin typeface="Malgun Gothic"/>
              </a:rPr>
              <a:t>구조 모델 표현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048256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Malgun Gothic"/>
              </a:rPr>
              <a:t>A 클레이 (추천) / B 글래스 / C 단면 — 복수 선택 시 보기 전환 토글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87168"/>
            <a:ext cx="1127455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96896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25822"/>
                </a:solidFill>
                <a:latin typeface="Malgun Gothi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9689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71717"/>
                </a:solidFill>
                <a:latin typeface="Malgun Gothic"/>
              </a:rPr>
              <a:t>차트 기본 스타일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615184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Malgun Gothic"/>
              </a:rPr>
              <a:t>A 클린 리포트 (추천) + B 하이라이트 전환 / C 인쇄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54096"/>
            <a:ext cx="1127455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63824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25822"/>
                </a:solidFill>
                <a:latin typeface="Malgun Gothic"/>
              </a:rPr>
              <a:t>02+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16382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71717"/>
                </a:solidFill>
                <a:latin typeface="Malgun Gothic"/>
              </a:rPr>
              <a:t>차트생성 신규 유형 우선순위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182112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Malgun Gothic"/>
              </a:rPr>
              <a:t>상자+통계표 · 확률도 · 히트맵 · 수식 오버레이 · 도넛 개선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21024"/>
            <a:ext cx="1127455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73075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25822"/>
                </a:solidFill>
                <a:latin typeface="Malgun Gothic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73075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71717"/>
                </a:solidFill>
                <a:latin typeface="Malgun Gothic"/>
              </a:rPr>
              <a:t>디자인 시스템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3749039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Malgun Gothic"/>
              </a:rPr>
              <a:t>A 플랫 구분선 (추천) / B 소프트 패널 / C 고밀도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187952"/>
            <a:ext cx="1127455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4805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71717"/>
                </a:solidFill>
                <a:latin typeface="Malgun Gothic"/>
              </a:rPr>
              <a:t>적용 순서 (선택 후)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846320"/>
            <a:ext cx="2651760" cy="118872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95604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71717"/>
                </a:solidFill>
                <a:latin typeface="Malgun Gothic"/>
              </a:rPr>
              <a:t>1 · 토큰 정리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0352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Malgun Gothic"/>
              </a:rPr>
              <a:t>chartTheme · tokens.css 정리, 차트 규칙 반영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91840" y="4846320"/>
            <a:ext cx="2651760" cy="118872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495604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71717"/>
                </a:solidFill>
                <a:latin typeface="Malgun Gothic"/>
              </a:rPr>
              <a:t>2 · 템플릿 4종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530352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Malgun Gothic"/>
              </a:rPr>
              <a:t>PageShell 기반 템플릿, 탭 이전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4846320"/>
            <a:ext cx="2651760" cy="118872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495604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71717"/>
                </a:solidFill>
                <a:latin typeface="Malgun Gothic"/>
              </a:rPr>
              <a:t>3 · 차트생성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30352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Malgun Gothic"/>
              </a:rPr>
              <a:t>신규 유형 + 오버레이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20" y="4846320"/>
            <a:ext cx="2651760" cy="118872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495604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71717"/>
                </a:solidFill>
                <a:latin typeface="Malgun Gothic"/>
              </a:rPr>
              <a:t>4 · 3D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530352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Malgun Gothic"/>
              </a:rPr>
              <a:t>아이콘 에셋 빌드, 구조 모델 재질·LLM UX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